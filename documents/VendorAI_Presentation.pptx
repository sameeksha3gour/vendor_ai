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141B47"/>
          </a:solidFill>
          <a:ln/>
        </p:spPr>
      </p:sp>
      <p:sp>
        <p:nvSpPr>
          <p:cNvPr id="3" name="Shape 1"/>
          <p:cNvSpPr/>
          <p:nvPr/>
        </p:nvSpPr>
        <p:spPr>
          <a:xfrm>
            <a:off x="-1645920" y="4389120"/>
            <a:ext cx="4206240" cy="4206240"/>
          </a:xfrm>
          <a:prstGeom prst="ellipse">
            <a:avLst/>
          </a:prstGeom>
          <a:solidFill>
            <a:srgbClr val="141B47"/>
          </a:solidFill>
          <a:ln/>
        </p:spPr>
      </p:sp>
      <p:sp>
        <p:nvSpPr>
          <p:cNvPr id="4" name="Shape 2"/>
          <p:cNvSpPr/>
          <p:nvPr/>
        </p:nvSpPr>
        <p:spPr>
          <a:xfrm>
            <a:off x="822960" y="685800"/>
            <a:ext cx="960120" cy="960120"/>
          </a:xfrm>
          <a:prstGeom prst="ellipse">
            <a:avLst/>
          </a:prstGeom>
          <a:solidFill>
            <a:srgbClr val="02C39A"/>
          </a:solidFill>
          <a:ln/>
        </p:spPr>
      </p:sp>
      <p:pic>
        <p:nvPicPr>
          <p:cNvPr id="5" name="Image 0" descr="icons/title_main.png">    </p:cNvPr>
          <p:cNvPicPr>
            <a:picLocks noChangeAspect="1"/>
          </p:cNvPicPr>
          <p:nvPr/>
        </p:nvPicPr>
        <p:blipFill>
          <a:blip r:embed="rId1"/>
          <a:stretch>
            <a:fillRect/>
          </a:stretch>
        </p:blipFill>
        <p:spPr>
          <a:xfrm>
            <a:off x="1033272" y="896112"/>
            <a:ext cx="548640" cy="548640"/>
          </a:xfrm>
          <a:prstGeom prst="rect">
            <a:avLst/>
          </a:prstGeom>
        </p:spPr>
      </p:pic>
      <p:sp>
        <p:nvSpPr>
          <p:cNvPr id="6" name="Text 3"/>
          <p:cNvSpPr/>
          <p:nvPr/>
        </p:nvSpPr>
        <p:spPr>
          <a:xfrm>
            <a:off x="777240" y="1874520"/>
            <a:ext cx="91440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VendorAI</a:t>
            </a:r>
            <a:endParaRPr lang="en-US" sz="5400" dirty="0"/>
          </a:p>
        </p:txBody>
      </p:sp>
      <p:sp>
        <p:nvSpPr>
          <p:cNvPr id="7" name="Text 4"/>
          <p:cNvSpPr/>
          <p:nvPr/>
        </p:nvSpPr>
        <p:spPr>
          <a:xfrm>
            <a:off x="822960" y="2788920"/>
            <a:ext cx="9601200" cy="548640"/>
          </a:xfrm>
          <a:prstGeom prst="rect">
            <a:avLst/>
          </a:prstGeom>
          <a:noFill/>
          <a:ln/>
        </p:spPr>
        <p:txBody>
          <a:bodyPr wrap="square" rtlCol="0" anchor="ctr"/>
          <a:lstStyle/>
          <a:p>
            <a:pPr indent="0" marL="0">
              <a:buNone/>
            </a:pPr>
            <a:r>
              <a:rPr lang="en-US" sz="2400" b="1" dirty="0">
                <a:solidFill>
                  <a:srgbClr val="02C39A"/>
                </a:solidFill>
                <a:latin typeface="Calibri" pitchFamily="34" charset="0"/>
                <a:ea typeface="Calibri" pitchFamily="34" charset="-122"/>
                <a:cs typeface="Calibri" pitchFamily="34" charset="-120"/>
              </a:rPr>
              <a:t>AI-Powered GST &amp; Business Copilot</a:t>
            </a:r>
            <a:endParaRPr lang="en-US" sz="2400" dirty="0"/>
          </a:p>
        </p:txBody>
      </p:sp>
      <p:sp>
        <p:nvSpPr>
          <p:cNvPr id="8" name="Text 5"/>
          <p:cNvSpPr/>
          <p:nvPr/>
        </p:nvSpPr>
        <p:spPr>
          <a:xfrm>
            <a:off x="822960" y="3337560"/>
            <a:ext cx="8961120" cy="731520"/>
          </a:xfrm>
          <a:prstGeom prst="rect">
            <a:avLst/>
          </a:prstGeom>
          <a:noFill/>
          <a:ln/>
        </p:spPr>
        <p:txBody>
          <a:bodyPr wrap="square" rtlCol="0" anchor="ctr"/>
          <a:lstStyle/>
          <a:p>
            <a:pPr indent="0" marL="0">
              <a:buNone/>
            </a:pPr>
            <a:r>
              <a:rPr lang="en-US" sz="1450" i="1" dirty="0">
                <a:solidFill>
                  <a:srgbClr val="CADCFC"/>
                </a:solidFill>
                <a:latin typeface="Calibri" pitchFamily="34" charset="0"/>
                <a:ea typeface="Calibri" pitchFamily="34" charset="-122"/>
                <a:cs typeface="Calibri" pitchFamily="34" charset="-120"/>
              </a:rPr>
              <a:t>An Intelligent GST Automation Platform for Compliance, Tax Optimization, Business Insights, and AI Decision Support</a:t>
            </a:r>
            <a:endParaRPr lang="en-US" sz="1450" dirty="0"/>
          </a:p>
        </p:txBody>
      </p:sp>
      <p:sp>
        <p:nvSpPr>
          <p:cNvPr id="9" name="Shape 6"/>
          <p:cNvSpPr/>
          <p:nvPr/>
        </p:nvSpPr>
        <p:spPr>
          <a:xfrm>
            <a:off x="822960" y="4434840"/>
            <a:ext cx="5120640" cy="1234440"/>
          </a:xfrm>
          <a:prstGeom prst="rect">
            <a:avLst>
              <a:gd name="adj" fmla="val 5926"/>
            </a:avLst>
          </a:prstGeom>
          <a:solidFill>
            <a:srgbClr val="141B47"/>
          </a:solidFill>
          <a:ln/>
        </p:spPr>
      </p:sp>
      <p:sp>
        <p:nvSpPr>
          <p:cNvPr id="10" name="Text 7"/>
          <p:cNvSpPr/>
          <p:nvPr/>
        </p:nvSpPr>
        <p:spPr>
          <a:xfrm>
            <a:off x="1051560" y="4572000"/>
            <a:ext cx="4663440" cy="100584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Presented by
</a:t>
            </a:r>
            <a:endParaRPr lang="en-US" sz="1100" dirty="0"/>
          </a:p>
          <a:p>
            <a:pPr indent="0" marL="0">
              <a:buNone/>
            </a:pPr>
            <a:r>
              <a:rPr lang="en-US" sz="1700" b="1" dirty="0">
                <a:solidFill>
                  <a:srgbClr val="FFFFFF"/>
                </a:solidFill>
                <a:latin typeface="Calibri" pitchFamily="34" charset="0"/>
                <a:ea typeface="Calibri" pitchFamily="34" charset="-122"/>
                <a:cs typeface="Calibri" pitchFamily="34" charset="-120"/>
              </a:rPr>
              <a:t>Sameeksha Gour
</a:t>
            </a:r>
            <a:endParaRPr lang="en-US" sz="1100" dirty="0"/>
          </a:p>
          <a:p>
            <a:pPr indent="0" marL="0">
              <a:buNone/>
            </a:pPr>
            <a:r>
              <a:rPr lang="en-US" sz="1200" dirty="0">
                <a:solidFill>
                  <a:srgbClr val="CADCFC"/>
                </a:solidFill>
                <a:latin typeface="Calibri" pitchFamily="34" charset="0"/>
                <a:ea typeface="Calibri" pitchFamily="34" charset="-122"/>
                <a:cs typeface="Calibri" pitchFamily="34" charset="-120"/>
              </a:rPr>
              <a:t>M.Tech (Computer Science – AI/ML)
</a:t>
            </a:r>
            <a:endParaRPr lang="en-US" sz="1100" dirty="0"/>
          </a:p>
          <a:p>
            <a:pPr indent="0" marL="0">
              <a:buNone/>
            </a:pPr>
            <a:r>
              <a:rPr lang="en-US" sz="1200" dirty="0">
                <a:solidFill>
                  <a:srgbClr val="CADCFC"/>
                </a:solidFill>
                <a:latin typeface="Calibri" pitchFamily="34" charset="0"/>
                <a:ea typeface="Calibri" pitchFamily="34" charset="-122"/>
                <a:cs typeface="Calibri" pitchFamily="34" charset="-120"/>
              </a:rPr>
              <a:t>Jaypee Institute of Information Technology</a:t>
            </a:r>
            <a:endParaRPr lang="en-US" sz="1100" dirty="0"/>
          </a:p>
        </p:txBody>
      </p:sp>
      <p:sp>
        <p:nvSpPr>
          <p:cNvPr id="11" name="Text 8"/>
          <p:cNvSpPr/>
          <p:nvPr/>
        </p:nvSpPr>
        <p:spPr>
          <a:xfrm>
            <a:off x="822960" y="6263640"/>
            <a:ext cx="10515600" cy="365760"/>
          </a:xfrm>
          <a:prstGeom prst="rect">
            <a:avLst/>
          </a:prstGeom>
          <a:noFill/>
          <a:ln/>
        </p:spPr>
        <p:txBody>
          <a:bodyPr wrap="square" rtlCol="0" anchor="ctr"/>
          <a:lstStyle/>
          <a:p>
            <a:pPr indent="0" marL="0">
              <a:buNone/>
            </a:pPr>
            <a:r>
              <a:rPr lang="en-US" sz="1150" dirty="0">
                <a:solidFill>
                  <a:srgbClr val="CADCFC"/>
                </a:solidFill>
                <a:latin typeface="Calibri" pitchFamily="34" charset="0"/>
                <a:ea typeface="Calibri" pitchFamily="34" charset="-122"/>
                <a:cs typeface="Calibri" pitchFamily="34" charset="-120"/>
              </a:rPr>
              <a:t>Python  •  FastAPI  •  PostgreSQL  •  OCR  •  Machine Learning  •  LLM  •  RAG  •  React  •  Docker</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411480"/>
            <a:ext cx="7315200" cy="45720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VendorAI?</a:t>
            </a:r>
            <a:endParaRPr lang="en-US" sz="3000" dirty="0"/>
          </a:p>
        </p:txBody>
      </p:sp>
      <p:sp>
        <p:nvSpPr>
          <p:cNvPr id="3" name="Text 1"/>
          <p:cNvSpPr/>
          <p:nvPr/>
        </p:nvSpPr>
        <p:spPr>
          <a:xfrm>
            <a:off x="548640" y="914400"/>
            <a:ext cx="10789920" cy="457200"/>
          </a:xfrm>
          <a:prstGeom prst="rect">
            <a:avLst/>
          </a:prstGeom>
          <a:noFill/>
          <a:ln/>
        </p:spPr>
        <p:txBody>
          <a:bodyPr wrap="square"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Businesses, especially MSMEs, face multiple challenges while managing GST and financial operations.</a:t>
            </a:r>
            <a:endParaRPr lang="en-US" sz="1400" dirty="0"/>
          </a:p>
        </p:txBody>
      </p:sp>
      <p:sp>
        <p:nvSpPr>
          <p:cNvPr id="4" name="Shape 2"/>
          <p:cNvSpPr/>
          <p:nvPr/>
        </p:nvSpPr>
        <p:spPr>
          <a:xfrm>
            <a:off x="548640" y="1508760"/>
            <a:ext cx="5394960" cy="4709160"/>
          </a:xfrm>
          <a:prstGeom prst="rect">
            <a:avLst>
              <a:gd name="adj" fmla="val 1553"/>
            </a:avLst>
          </a:prstGeom>
          <a:solidFill>
            <a:srgbClr val="FFFFFF"/>
          </a:solidFill>
          <a:ln/>
          <a:effectLst>
            <a:outerShdw sx="100000" sy="100000" kx="0" ky="0" algn="bl" rotWithShape="0" blurRad="101600" dist="38100" dir="5400000">
              <a:srgbClr val="1E2761">
                <a:alpha val="18000"/>
              </a:srgbClr>
            </a:outerShdw>
          </a:effectLst>
        </p:spPr>
      </p:sp>
      <p:sp>
        <p:nvSpPr>
          <p:cNvPr id="5" name="Shape 3"/>
          <p:cNvSpPr/>
          <p:nvPr/>
        </p:nvSpPr>
        <p:spPr>
          <a:xfrm>
            <a:off x="868680" y="1783080"/>
            <a:ext cx="457200" cy="457200"/>
          </a:xfrm>
          <a:prstGeom prst="ellipse">
            <a:avLst/>
          </a:prstGeom>
          <a:solidFill>
            <a:srgbClr val="C0392B"/>
          </a:solidFill>
          <a:ln/>
        </p:spPr>
      </p:sp>
      <p:pic>
        <p:nvPicPr>
          <p:cNvPr id="6" name="Image 0" descr="icons/problem.png">    </p:cNvPr>
          <p:cNvPicPr>
            <a:picLocks noChangeAspect="1"/>
          </p:cNvPicPr>
          <p:nvPr/>
        </p:nvPicPr>
        <p:blipFill>
          <a:blip r:embed="rId1"/>
          <a:stretch>
            <a:fillRect/>
          </a:stretch>
        </p:blipFill>
        <p:spPr>
          <a:xfrm>
            <a:off x="969264" y="1883664"/>
            <a:ext cx="256032" cy="256032"/>
          </a:xfrm>
          <a:prstGeom prst="rect">
            <a:avLst/>
          </a:prstGeom>
        </p:spPr>
      </p:pic>
      <p:sp>
        <p:nvSpPr>
          <p:cNvPr id="7" name="Text 4"/>
          <p:cNvSpPr/>
          <p:nvPr/>
        </p:nvSpPr>
        <p:spPr>
          <a:xfrm>
            <a:off x="1508760" y="1764792"/>
            <a:ext cx="4206240" cy="4114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Existing Problems</a:t>
            </a:r>
            <a:endParaRPr lang="en-US" sz="1800" dirty="0"/>
          </a:p>
        </p:txBody>
      </p:sp>
      <p:sp>
        <p:nvSpPr>
          <p:cNvPr id="8" name="Shape 5"/>
          <p:cNvSpPr/>
          <p:nvPr/>
        </p:nvSpPr>
        <p:spPr>
          <a:xfrm>
            <a:off x="914400" y="2478024"/>
            <a:ext cx="100584" cy="100584"/>
          </a:xfrm>
          <a:prstGeom prst="ellipse">
            <a:avLst/>
          </a:prstGeom>
          <a:solidFill>
            <a:srgbClr val="C0392B"/>
          </a:solidFill>
          <a:ln/>
        </p:spPr>
      </p:sp>
      <p:sp>
        <p:nvSpPr>
          <p:cNvPr id="9" name="Text 6"/>
          <p:cNvSpPr/>
          <p:nvPr/>
        </p:nvSpPr>
        <p:spPr>
          <a:xfrm>
            <a:off x="1188720" y="2350008"/>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Manual invoice processing</a:t>
            </a:r>
            <a:endParaRPr lang="en-US" sz="1350" dirty="0"/>
          </a:p>
        </p:txBody>
      </p:sp>
      <p:sp>
        <p:nvSpPr>
          <p:cNvPr id="10" name="Shape 7"/>
          <p:cNvSpPr/>
          <p:nvPr/>
        </p:nvSpPr>
        <p:spPr>
          <a:xfrm>
            <a:off x="914400" y="2962656"/>
            <a:ext cx="100584" cy="100584"/>
          </a:xfrm>
          <a:prstGeom prst="ellipse">
            <a:avLst/>
          </a:prstGeom>
          <a:solidFill>
            <a:srgbClr val="C0392B"/>
          </a:solidFill>
          <a:ln/>
        </p:spPr>
      </p:sp>
      <p:sp>
        <p:nvSpPr>
          <p:cNvPr id="11" name="Text 8"/>
          <p:cNvSpPr/>
          <p:nvPr/>
        </p:nvSpPr>
        <p:spPr>
          <a:xfrm>
            <a:off x="1188720" y="2834640"/>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Time-consuming GST filing</a:t>
            </a:r>
            <a:endParaRPr lang="en-US" sz="1350" dirty="0"/>
          </a:p>
        </p:txBody>
      </p:sp>
      <p:sp>
        <p:nvSpPr>
          <p:cNvPr id="12" name="Shape 9"/>
          <p:cNvSpPr/>
          <p:nvPr/>
        </p:nvSpPr>
        <p:spPr>
          <a:xfrm>
            <a:off x="914400" y="3447288"/>
            <a:ext cx="100584" cy="100584"/>
          </a:xfrm>
          <a:prstGeom prst="ellipse">
            <a:avLst/>
          </a:prstGeom>
          <a:solidFill>
            <a:srgbClr val="C0392B"/>
          </a:solidFill>
          <a:ln/>
        </p:spPr>
      </p:sp>
      <p:sp>
        <p:nvSpPr>
          <p:cNvPr id="13" name="Text 10"/>
          <p:cNvSpPr/>
          <p:nvPr/>
        </p:nvSpPr>
        <p:spPr>
          <a:xfrm>
            <a:off x="1188720" y="3319272"/>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Missing Input Tax Credit (ITC)</a:t>
            </a:r>
            <a:endParaRPr lang="en-US" sz="1350" dirty="0"/>
          </a:p>
        </p:txBody>
      </p:sp>
      <p:sp>
        <p:nvSpPr>
          <p:cNvPr id="14" name="Shape 11"/>
          <p:cNvSpPr/>
          <p:nvPr/>
        </p:nvSpPr>
        <p:spPr>
          <a:xfrm>
            <a:off x="914400" y="3931920"/>
            <a:ext cx="100584" cy="100584"/>
          </a:xfrm>
          <a:prstGeom prst="ellipse">
            <a:avLst/>
          </a:prstGeom>
          <a:solidFill>
            <a:srgbClr val="C0392B"/>
          </a:solidFill>
          <a:ln/>
        </p:spPr>
      </p:sp>
      <p:sp>
        <p:nvSpPr>
          <p:cNvPr id="15" name="Text 12"/>
          <p:cNvSpPr/>
          <p:nvPr/>
        </p:nvSpPr>
        <p:spPr>
          <a:xfrm>
            <a:off x="1188720" y="3803904"/>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Duplicate or fake invoices</a:t>
            </a:r>
            <a:endParaRPr lang="en-US" sz="1350" dirty="0"/>
          </a:p>
        </p:txBody>
      </p:sp>
      <p:sp>
        <p:nvSpPr>
          <p:cNvPr id="16" name="Shape 13"/>
          <p:cNvSpPr/>
          <p:nvPr/>
        </p:nvSpPr>
        <p:spPr>
          <a:xfrm>
            <a:off x="914400" y="4416552"/>
            <a:ext cx="100584" cy="100584"/>
          </a:xfrm>
          <a:prstGeom prst="ellipse">
            <a:avLst/>
          </a:prstGeom>
          <a:solidFill>
            <a:srgbClr val="C0392B"/>
          </a:solidFill>
          <a:ln/>
        </p:spPr>
      </p:sp>
      <p:sp>
        <p:nvSpPr>
          <p:cNvPr id="17" name="Text 14"/>
          <p:cNvSpPr/>
          <p:nvPr/>
        </p:nvSpPr>
        <p:spPr>
          <a:xfrm>
            <a:off x="1188720" y="4288536"/>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Inventory mismanagement</a:t>
            </a:r>
            <a:endParaRPr lang="en-US" sz="1350" dirty="0"/>
          </a:p>
        </p:txBody>
      </p:sp>
      <p:sp>
        <p:nvSpPr>
          <p:cNvPr id="18" name="Shape 15"/>
          <p:cNvSpPr/>
          <p:nvPr/>
        </p:nvSpPr>
        <p:spPr>
          <a:xfrm>
            <a:off x="914400" y="4901184"/>
            <a:ext cx="100584" cy="100584"/>
          </a:xfrm>
          <a:prstGeom prst="ellipse">
            <a:avLst/>
          </a:prstGeom>
          <a:solidFill>
            <a:srgbClr val="C0392B"/>
          </a:solidFill>
          <a:ln/>
        </p:spPr>
      </p:sp>
      <p:sp>
        <p:nvSpPr>
          <p:cNvPr id="19" name="Text 16"/>
          <p:cNvSpPr/>
          <p:nvPr/>
        </p:nvSpPr>
        <p:spPr>
          <a:xfrm>
            <a:off x="1188720" y="4773168"/>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Lack of business insights</a:t>
            </a:r>
            <a:endParaRPr lang="en-US" sz="1350" dirty="0"/>
          </a:p>
        </p:txBody>
      </p:sp>
      <p:sp>
        <p:nvSpPr>
          <p:cNvPr id="20" name="Shape 17"/>
          <p:cNvSpPr/>
          <p:nvPr/>
        </p:nvSpPr>
        <p:spPr>
          <a:xfrm>
            <a:off x="914400" y="5385816"/>
            <a:ext cx="100584" cy="100584"/>
          </a:xfrm>
          <a:prstGeom prst="ellipse">
            <a:avLst/>
          </a:prstGeom>
          <a:solidFill>
            <a:srgbClr val="C0392B"/>
          </a:solidFill>
          <a:ln/>
        </p:spPr>
      </p:sp>
      <p:sp>
        <p:nvSpPr>
          <p:cNvPr id="21" name="Text 18"/>
          <p:cNvSpPr/>
          <p:nvPr/>
        </p:nvSpPr>
        <p:spPr>
          <a:xfrm>
            <a:off x="1188720" y="5257800"/>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Poor cash-flow prediction</a:t>
            </a:r>
            <a:endParaRPr lang="en-US" sz="1350" dirty="0"/>
          </a:p>
        </p:txBody>
      </p:sp>
      <p:sp>
        <p:nvSpPr>
          <p:cNvPr id="22" name="Shape 19"/>
          <p:cNvSpPr/>
          <p:nvPr/>
        </p:nvSpPr>
        <p:spPr>
          <a:xfrm>
            <a:off x="914400" y="5870448"/>
            <a:ext cx="100584" cy="100584"/>
          </a:xfrm>
          <a:prstGeom prst="ellipse">
            <a:avLst/>
          </a:prstGeom>
          <a:solidFill>
            <a:srgbClr val="C0392B"/>
          </a:solidFill>
          <a:ln/>
        </p:spPr>
      </p:sp>
      <p:sp>
        <p:nvSpPr>
          <p:cNvPr id="23" name="Text 20"/>
          <p:cNvSpPr/>
          <p:nvPr/>
        </p:nvSpPr>
        <p:spPr>
          <a:xfrm>
            <a:off x="1188720" y="5742432"/>
            <a:ext cx="4572000" cy="365760"/>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No intelligent assistant for GST queries</a:t>
            </a:r>
            <a:endParaRPr lang="en-US" sz="1350" dirty="0"/>
          </a:p>
        </p:txBody>
      </p:sp>
      <p:sp>
        <p:nvSpPr>
          <p:cNvPr id="24" name="Shape 21"/>
          <p:cNvSpPr/>
          <p:nvPr/>
        </p:nvSpPr>
        <p:spPr>
          <a:xfrm>
            <a:off x="6172200" y="1508760"/>
            <a:ext cx="5486400" cy="2331720"/>
          </a:xfrm>
          <a:prstGeom prst="rect">
            <a:avLst>
              <a:gd name="adj" fmla="val 3137"/>
            </a:avLst>
          </a:prstGeom>
          <a:solidFill>
            <a:srgbClr val="1E2761"/>
          </a:solidFill>
          <a:ln/>
          <a:effectLst>
            <a:outerShdw sx="100000" sy="100000" kx="0" ky="0" algn="bl" rotWithShape="0" blurRad="101600" dist="38100" dir="5400000">
              <a:srgbClr val="1E2761">
                <a:alpha val="18000"/>
              </a:srgbClr>
            </a:outerShdw>
          </a:effectLst>
        </p:spPr>
      </p:sp>
      <p:sp>
        <p:nvSpPr>
          <p:cNvPr id="25" name="Shape 22"/>
          <p:cNvSpPr/>
          <p:nvPr/>
        </p:nvSpPr>
        <p:spPr>
          <a:xfrm>
            <a:off x="6492240" y="1783080"/>
            <a:ext cx="457200" cy="457200"/>
          </a:xfrm>
          <a:prstGeom prst="ellipse">
            <a:avLst/>
          </a:prstGeom>
          <a:solidFill>
            <a:srgbClr val="02C39A"/>
          </a:solidFill>
          <a:ln/>
        </p:spPr>
      </p:sp>
      <p:pic>
        <p:nvPicPr>
          <p:cNvPr id="26" name="Image 1" descr="icons/solution.png">    </p:cNvPr>
          <p:cNvPicPr>
            <a:picLocks noChangeAspect="1"/>
          </p:cNvPicPr>
          <p:nvPr/>
        </p:nvPicPr>
        <p:blipFill>
          <a:blip r:embed="rId2"/>
          <a:stretch>
            <a:fillRect/>
          </a:stretch>
        </p:blipFill>
        <p:spPr>
          <a:xfrm>
            <a:off x="6592824" y="1883664"/>
            <a:ext cx="256032" cy="256032"/>
          </a:xfrm>
          <a:prstGeom prst="rect">
            <a:avLst/>
          </a:prstGeom>
        </p:spPr>
      </p:pic>
      <p:sp>
        <p:nvSpPr>
          <p:cNvPr id="27" name="Text 23"/>
          <p:cNvSpPr/>
          <p:nvPr/>
        </p:nvSpPr>
        <p:spPr>
          <a:xfrm>
            <a:off x="7132320" y="1764792"/>
            <a:ext cx="4297680" cy="41148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Proposed Solution</a:t>
            </a:r>
            <a:endParaRPr lang="en-US" sz="1800" dirty="0"/>
          </a:p>
        </p:txBody>
      </p:sp>
      <p:sp>
        <p:nvSpPr>
          <p:cNvPr id="28" name="Text 24"/>
          <p:cNvSpPr/>
          <p:nvPr/>
        </p:nvSpPr>
        <p:spPr>
          <a:xfrm>
            <a:off x="6492240" y="2331720"/>
            <a:ext cx="4846320" cy="1417320"/>
          </a:xfrm>
          <a:prstGeom prst="rect">
            <a:avLst/>
          </a:prstGeom>
          <a:noFill/>
          <a:ln/>
        </p:spPr>
        <p:txBody>
          <a:bodyPr wrap="square" rtlCol="0" anchor="ctr"/>
          <a:lstStyle/>
          <a:p>
            <a:pPr indent="0" marL="0">
              <a:buNone/>
            </a:pPr>
            <a:r>
              <a:rPr lang="en-US" sz="1350" dirty="0">
                <a:solidFill>
                  <a:srgbClr val="CADCFC"/>
                </a:solidFill>
                <a:latin typeface="Calibri" pitchFamily="34" charset="0"/>
                <a:ea typeface="Calibri" pitchFamily="34" charset="-122"/>
                <a:cs typeface="Calibri" pitchFamily="34" charset="-120"/>
              </a:rPr>
              <a:t>VendorAI integrates AI, OCR, Machine Learning, and Large Language Models into a single platform that automates GST compliance while providing intelligent business recommendations.</a:t>
            </a:r>
            <a:endParaRPr lang="en-US" sz="1350" dirty="0"/>
          </a:p>
        </p:txBody>
      </p:sp>
      <p:sp>
        <p:nvSpPr>
          <p:cNvPr id="29" name="Shape 25"/>
          <p:cNvSpPr/>
          <p:nvPr/>
        </p:nvSpPr>
        <p:spPr>
          <a:xfrm>
            <a:off x="6172200" y="4069080"/>
            <a:ext cx="5486400" cy="2148840"/>
          </a:xfrm>
          <a:prstGeom prst="rect">
            <a:avLst>
              <a:gd name="adj" fmla="val 3404"/>
            </a:avLst>
          </a:prstGeom>
          <a:solidFill>
            <a:srgbClr val="FFFFFF"/>
          </a:solidFill>
          <a:ln/>
          <a:effectLst>
            <a:outerShdw sx="100000" sy="100000" kx="0" ky="0" algn="bl" rotWithShape="0" blurRad="101600" dist="38100" dir="5400000">
              <a:srgbClr val="1E2761">
                <a:alpha val="18000"/>
              </a:srgbClr>
            </a:outerShdw>
          </a:effectLst>
        </p:spPr>
      </p:sp>
      <p:sp>
        <p:nvSpPr>
          <p:cNvPr id="30" name="Shape 26"/>
          <p:cNvSpPr/>
          <p:nvPr/>
        </p:nvSpPr>
        <p:spPr>
          <a:xfrm>
            <a:off x="6537960" y="4709160"/>
            <a:ext cx="1417320" cy="1051560"/>
          </a:xfrm>
          <a:prstGeom prst="roundRect">
            <a:avLst>
              <a:gd name="adj" fmla="val 8696"/>
            </a:avLst>
          </a:prstGeom>
          <a:solidFill>
            <a:srgbClr val="C0392B"/>
          </a:solidFill>
          <a:ln/>
        </p:spPr>
      </p:sp>
      <p:sp>
        <p:nvSpPr>
          <p:cNvPr id="31" name="Text 27"/>
          <p:cNvSpPr/>
          <p:nvPr/>
        </p:nvSpPr>
        <p:spPr>
          <a:xfrm>
            <a:off x="6537960" y="4709160"/>
            <a:ext cx="1417320" cy="10515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Manual</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p>
        </p:txBody>
      </p:sp>
      <p:pic>
        <p:nvPicPr>
          <p:cNvPr id="32" name="Image 2" descr="icons/arrow.png">    </p:cNvPr>
          <p:cNvPicPr>
            <a:picLocks noChangeAspect="1"/>
          </p:cNvPicPr>
          <p:nvPr/>
        </p:nvPicPr>
        <p:blipFill>
          <a:blip r:embed="rId3"/>
          <a:stretch>
            <a:fillRect/>
          </a:stretch>
        </p:blipFill>
        <p:spPr>
          <a:xfrm>
            <a:off x="8019288" y="5074920"/>
            <a:ext cx="274320" cy="274320"/>
          </a:xfrm>
          <a:prstGeom prst="rect">
            <a:avLst/>
          </a:prstGeom>
        </p:spPr>
      </p:pic>
      <p:sp>
        <p:nvSpPr>
          <p:cNvPr id="33" name="Shape 28"/>
          <p:cNvSpPr/>
          <p:nvPr/>
        </p:nvSpPr>
        <p:spPr>
          <a:xfrm>
            <a:off x="8293608" y="4709160"/>
            <a:ext cx="1417320" cy="1051560"/>
          </a:xfrm>
          <a:prstGeom prst="roundRect">
            <a:avLst>
              <a:gd name="adj" fmla="val 8696"/>
            </a:avLst>
          </a:prstGeom>
          <a:solidFill>
            <a:srgbClr val="1E2761"/>
          </a:solidFill>
          <a:ln/>
        </p:spPr>
      </p:sp>
      <p:sp>
        <p:nvSpPr>
          <p:cNvPr id="34" name="Text 29"/>
          <p:cNvSpPr/>
          <p:nvPr/>
        </p:nvSpPr>
        <p:spPr>
          <a:xfrm>
            <a:off x="8293608" y="4709160"/>
            <a:ext cx="1417320" cy="10515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VendorAI</a:t>
            </a:r>
            <a:endParaRPr lang="en-US" sz="1250" dirty="0"/>
          </a:p>
        </p:txBody>
      </p:sp>
      <p:pic>
        <p:nvPicPr>
          <p:cNvPr id="35" name="Image 3" descr="icons/arrow.png">    </p:cNvPr>
          <p:cNvPicPr>
            <a:picLocks noChangeAspect="1"/>
          </p:cNvPicPr>
          <p:nvPr/>
        </p:nvPicPr>
        <p:blipFill>
          <a:blip r:embed="rId4"/>
          <a:stretch>
            <a:fillRect/>
          </a:stretch>
        </p:blipFill>
        <p:spPr>
          <a:xfrm>
            <a:off x="9774936" y="5074920"/>
            <a:ext cx="274320" cy="274320"/>
          </a:xfrm>
          <a:prstGeom prst="rect">
            <a:avLst/>
          </a:prstGeom>
        </p:spPr>
      </p:pic>
      <p:sp>
        <p:nvSpPr>
          <p:cNvPr id="36" name="Shape 30"/>
          <p:cNvSpPr/>
          <p:nvPr/>
        </p:nvSpPr>
        <p:spPr>
          <a:xfrm>
            <a:off x="10049256" y="4709160"/>
            <a:ext cx="1417320" cy="1051560"/>
          </a:xfrm>
          <a:prstGeom prst="roundRect">
            <a:avLst>
              <a:gd name="adj" fmla="val 8696"/>
            </a:avLst>
          </a:prstGeom>
          <a:solidFill>
            <a:srgbClr val="02C39A"/>
          </a:solidFill>
          <a:ln/>
        </p:spPr>
      </p:sp>
      <p:sp>
        <p:nvSpPr>
          <p:cNvPr id="37" name="Text 31"/>
          <p:cNvSpPr/>
          <p:nvPr/>
        </p:nvSpPr>
        <p:spPr>
          <a:xfrm>
            <a:off x="10049256" y="4709160"/>
            <a:ext cx="1417320" cy="10515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Smart Business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Decisions</a:t>
            </a:r>
            <a:endParaRPr lang="en-US" sz="1250" dirty="0"/>
          </a:p>
        </p:txBody>
      </p:sp>
      <p:sp>
        <p:nvSpPr>
          <p:cNvPr id="38" name="Text 32"/>
          <p:cNvSpPr/>
          <p:nvPr/>
        </p:nvSpPr>
        <p:spPr>
          <a:xfrm>
            <a:off x="6492240" y="4251960"/>
            <a:ext cx="4937760" cy="320040"/>
          </a:xfrm>
          <a:prstGeom prst="rect">
            <a:avLst/>
          </a:prstGeom>
          <a:noFill/>
          <a:ln/>
        </p:spPr>
        <p:txBody>
          <a:bodyPr wrap="square"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From manual effort to AI-driven growth</a:t>
            </a:r>
            <a:endParaRPr lang="en-US" sz="1200" dirty="0"/>
          </a:p>
        </p:txBody>
      </p:sp>
      <p:sp>
        <p:nvSpPr>
          <p:cNvPr id="39" name="Text 33"/>
          <p:cNvSpPr/>
          <p:nvPr/>
        </p:nvSpPr>
        <p:spPr>
          <a:xfrm>
            <a:off x="457200" y="6492240"/>
            <a:ext cx="548640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VendorAI  |  Problem Statement &amp; Motivation</a:t>
            </a:r>
            <a:endParaRPr lang="en-US" sz="1000" dirty="0"/>
          </a:p>
        </p:txBody>
      </p:sp>
      <p:sp>
        <p:nvSpPr>
          <p:cNvPr id="40" name="Text 34"/>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292608"/>
            <a:ext cx="9144000" cy="45720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VendorAI Overall Architecture</a:t>
            </a:r>
            <a:endParaRPr lang="en-US" sz="2800" dirty="0"/>
          </a:p>
        </p:txBody>
      </p:sp>
      <p:pic>
        <p:nvPicPr>
          <p:cNvPr id="3" name="Image 0" descr="architecture.png">    </p:cNvPr>
          <p:cNvPicPr>
            <a:picLocks noChangeAspect="1"/>
          </p:cNvPicPr>
          <p:nvPr/>
        </p:nvPicPr>
        <p:blipFill>
          <a:blip r:embed="rId1"/>
          <a:stretch>
            <a:fillRect/>
          </a:stretch>
        </p:blipFill>
        <p:spPr>
          <a:xfrm>
            <a:off x="320040" y="841248"/>
            <a:ext cx="8732520" cy="5821680"/>
          </a:xfrm>
          <a:prstGeom prst="rect">
            <a:avLst/>
          </a:prstGeom>
        </p:spPr>
      </p:pic>
      <p:sp>
        <p:nvSpPr>
          <p:cNvPr id="4" name="Shape 1"/>
          <p:cNvSpPr/>
          <p:nvPr/>
        </p:nvSpPr>
        <p:spPr>
          <a:xfrm>
            <a:off x="9281160" y="841248"/>
            <a:ext cx="2606040" cy="5806440"/>
          </a:xfrm>
          <a:prstGeom prst="rect">
            <a:avLst>
              <a:gd name="adj" fmla="val 2807"/>
            </a:avLst>
          </a:prstGeom>
          <a:solidFill>
            <a:srgbClr val="1E2761"/>
          </a:solidFill>
          <a:ln/>
          <a:effectLst>
            <a:outerShdw sx="100000" sy="100000" kx="0" ky="0" algn="bl" rotWithShape="0" blurRad="101600" dist="38100" dir="5400000">
              <a:srgbClr val="1E2761">
                <a:alpha val="18000"/>
              </a:srgbClr>
            </a:outerShdw>
          </a:effectLst>
        </p:spPr>
      </p:sp>
      <p:sp>
        <p:nvSpPr>
          <p:cNvPr id="5" name="Text 2"/>
          <p:cNvSpPr/>
          <p:nvPr/>
        </p:nvSpPr>
        <p:spPr>
          <a:xfrm>
            <a:off x="9418320" y="960120"/>
            <a:ext cx="2331720" cy="320040"/>
          </a:xfrm>
          <a:prstGeom prst="rect">
            <a:avLst/>
          </a:prstGeom>
          <a:noFill/>
          <a:ln/>
        </p:spPr>
        <p:txBody>
          <a:bodyPr wrap="square"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Workflow</a:t>
            </a:r>
            <a:endParaRPr lang="en-US" sz="1500" dirty="0"/>
          </a:p>
        </p:txBody>
      </p:sp>
      <p:sp>
        <p:nvSpPr>
          <p:cNvPr id="6" name="Text 3"/>
          <p:cNvSpPr/>
          <p:nvPr/>
        </p:nvSpPr>
        <p:spPr>
          <a:xfrm>
            <a:off x="9418320" y="1353312"/>
            <a:ext cx="2331720" cy="426443"/>
          </a:xfrm>
          <a:prstGeom prst="rect">
            <a:avLst/>
          </a:prstGeom>
          <a:noFill/>
          <a:ln/>
        </p:spPr>
        <p:txBody>
          <a:bodyPr wrap="square" rtlCol="0" anchor="ctr"/>
          <a:lstStyle/>
          <a:p>
            <a:pPr algn="ctr" indent="0" marL="0">
              <a:buNone/>
            </a:pPr>
            <a:r>
              <a:rPr lang="en-US" sz="1030" b="1" dirty="0">
                <a:solidFill>
                  <a:srgbClr val="FFFFFF"/>
                </a:solidFill>
                <a:latin typeface="Calibri" pitchFamily="34" charset="0"/>
                <a:ea typeface="Calibri" pitchFamily="34" charset="-122"/>
                <a:cs typeface="Calibri" pitchFamily="34" charset="-120"/>
              </a:rPr>
              <a:t>User</a:t>
            </a:r>
            <a:endParaRPr lang="en-US" sz="1030" dirty="0"/>
          </a:p>
        </p:txBody>
      </p:sp>
      <p:sp>
        <p:nvSpPr>
          <p:cNvPr id="7" name="Text 4"/>
          <p:cNvSpPr/>
          <p:nvPr/>
        </p:nvSpPr>
        <p:spPr>
          <a:xfrm>
            <a:off x="9418320" y="1834619"/>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Upload Invoice / Voice Input</a:t>
            </a:r>
            <a:endParaRPr lang="en-US" sz="1030" dirty="0"/>
          </a:p>
        </p:txBody>
      </p:sp>
      <p:sp>
        <p:nvSpPr>
          <p:cNvPr id="8" name="Text 5"/>
          <p:cNvSpPr/>
          <p:nvPr/>
        </p:nvSpPr>
        <p:spPr>
          <a:xfrm>
            <a:off x="9418320" y="2315926"/>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OCR Engine</a:t>
            </a:r>
            <a:endParaRPr lang="en-US" sz="1030" dirty="0"/>
          </a:p>
        </p:txBody>
      </p:sp>
      <p:sp>
        <p:nvSpPr>
          <p:cNvPr id="9" name="Text 6"/>
          <p:cNvSpPr/>
          <p:nvPr/>
        </p:nvSpPr>
        <p:spPr>
          <a:xfrm>
            <a:off x="9418320" y="2797233"/>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Validation &amp; Cleaning</a:t>
            </a:r>
            <a:endParaRPr lang="en-US" sz="1030" dirty="0"/>
          </a:p>
        </p:txBody>
      </p:sp>
      <p:sp>
        <p:nvSpPr>
          <p:cNvPr id="10" name="Text 7"/>
          <p:cNvSpPr/>
          <p:nvPr/>
        </p:nvSpPr>
        <p:spPr>
          <a:xfrm>
            <a:off x="9418320" y="3278540"/>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ML Classification</a:t>
            </a:r>
            <a:endParaRPr lang="en-US" sz="1030" dirty="0"/>
          </a:p>
        </p:txBody>
      </p:sp>
      <p:sp>
        <p:nvSpPr>
          <p:cNvPr id="11" name="Text 8"/>
          <p:cNvSpPr/>
          <p:nvPr/>
        </p:nvSpPr>
        <p:spPr>
          <a:xfrm>
            <a:off x="9418320" y="3759847"/>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Database</a:t>
            </a:r>
            <a:endParaRPr lang="en-US" sz="1030" dirty="0"/>
          </a:p>
        </p:txBody>
      </p:sp>
      <p:sp>
        <p:nvSpPr>
          <p:cNvPr id="12" name="Text 9"/>
          <p:cNvSpPr/>
          <p:nvPr/>
        </p:nvSpPr>
        <p:spPr>
          <a:xfrm>
            <a:off x="9418320" y="4241153"/>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GST Rule Engine</a:t>
            </a:r>
            <a:endParaRPr lang="en-US" sz="1030" dirty="0"/>
          </a:p>
        </p:txBody>
      </p:sp>
      <p:sp>
        <p:nvSpPr>
          <p:cNvPr id="13" name="Text 10"/>
          <p:cNvSpPr/>
          <p:nvPr/>
        </p:nvSpPr>
        <p:spPr>
          <a:xfrm>
            <a:off x="9418320" y="4722460"/>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AI Analytics</a:t>
            </a:r>
            <a:endParaRPr lang="en-US" sz="1030" dirty="0"/>
          </a:p>
        </p:txBody>
      </p:sp>
      <p:sp>
        <p:nvSpPr>
          <p:cNvPr id="14" name="Text 11"/>
          <p:cNvSpPr/>
          <p:nvPr/>
        </p:nvSpPr>
        <p:spPr>
          <a:xfrm>
            <a:off x="9418320" y="5203767"/>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Recommendation Engine</a:t>
            </a:r>
            <a:endParaRPr lang="en-US" sz="1030" dirty="0"/>
          </a:p>
        </p:txBody>
      </p:sp>
      <p:sp>
        <p:nvSpPr>
          <p:cNvPr id="15" name="Text 12"/>
          <p:cNvSpPr/>
          <p:nvPr/>
        </p:nvSpPr>
        <p:spPr>
          <a:xfrm>
            <a:off x="9418320" y="5685074"/>
            <a:ext cx="2331720" cy="426443"/>
          </a:xfrm>
          <a:prstGeom prst="rect">
            <a:avLst/>
          </a:prstGeom>
          <a:noFill/>
          <a:ln/>
        </p:spPr>
        <p:txBody>
          <a:bodyPr wrap="square" rtlCol="0" anchor="ctr"/>
          <a:lstStyle/>
          <a:p>
            <a:pPr algn="ctr" indent="0" marL="0">
              <a:buNone/>
            </a:pPr>
            <a:r>
              <a:rPr lang="en-US" sz="1030" dirty="0">
                <a:solidFill>
                  <a:srgbClr val="FFFFFF"/>
                </a:solidFill>
                <a:latin typeface="Calibri" pitchFamily="34" charset="0"/>
                <a:ea typeface="Calibri" pitchFamily="34" charset="-122"/>
                <a:cs typeface="Calibri" pitchFamily="34" charset="-120"/>
              </a:rPr>
              <a:t>LLM Copilot</a:t>
            </a:r>
            <a:endParaRPr lang="en-US" sz="1030" dirty="0"/>
          </a:p>
        </p:txBody>
      </p:sp>
      <p:sp>
        <p:nvSpPr>
          <p:cNvPr id="16" name="Text 13"/>
          <p:cNvSpPr/>
          <p:nvPr/>
        </p:nvSpPr>
        <p:spPr>
          <a:xfrm>
            <a:off x="9418320" y="6166381"/>
            <a:ext cx="2331720" cy="426443"/>
          </a:xfrm>
          <a:prstGeom prst="rect">
            <a:avLst/>
          </a:prstGeom>
          <a:noFill/>
          <a:ln/>
        </p:spPr>
        <p:txBody>
          <a:bodyPr wrap="square" rtlCol="0" anchor="ctr"/>
          <a:lstStyle/>
          <a:p>
            <a:pPr algn="ctr" indent="0" marL="0">
              <a:buNone/>
            </a:pPr>
            <a:r>
              <a:rPr lang="en-US" sz="1030" b="1" dirty="0">
                <a:solidFill>
                  <a:srgbClr val="FFFFFF"/>
                </a:solidFill>
                <a:latin typeface="Calibri" pitchFamily="34" charset="0"/>
                <a:ea typeface="Calibri" pitchFamily="34" charset="-122"/>
                <a:cs typeface="Calibri" pitchFamily="34" charset="-120"/>
              </a:rPr>
              <a:t>Reports &amp; Alerts</a:t>
            </a:r>
            <a:endParaRPr lang="en-US" sz="1030" dirty="0"/>
          </a:p>
        </p:txBody>
      </p:sp>
      <p:sp>
        <p:nvSpPr>
          <p:cNvPr id="17" name="Text 14"/>
          <p:cNvSpPr/>
          <p:nvPr/>
        </p:nvSpPr>
        <p:spPr>
          <a:xfrm>
            <a:off x="457200" y="6492240"/>
            <a:ext cx="548640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VendorAI  |  System Architecture</a:t>
            </a:r>
            <a:endParaRPr lang="en-US" sz="1000" dirty="0"/>
          </a:p>
        </p:txBody>
      </p:sp>
      <p:sp>
        <p:nvSpPr>
          <p:cNvPr id="18" name="Text 15"/>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320040"/>
            <a:ext cx="9144000" cy="45720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Artificial Intelligence Components</a:t>
            </a:r>
            <a:endParaRPr lang="en-US" sz="2800" dirty="0"/>
          </a:p>
        </p:txBody>
      </p:sp>
      <p:sp>
        <p:nvSpPr>
          <p:cNvPr id="3" name="Shape 1"/>
          <p:cNvSpPr/>
          <p:nvPr/>
        </p:nvSpPr>
        <p:spPr>
          <a:xfrm>
            <a:off x="457200" y="960120"/>
            <a:ext cx="11292840" cy="411480"/>
          </a:xfrm>
          <a:prstGeom prst="rect">
            <a:avLst/>
          </a:prstGeom>
          <a:solidFill>
            <a:srgbClr val="1E2761"/>
          </a:solidFill>
          <a:ln/>
        </p:spPr>
      </p:sp>
      <p:sp>
        <p:nvSpPr>
          <p:cNvPr id="4" name="Text 2"/>
          <p:cNvSpPr/>
          <p:nvPr/>
        </p:nvSpPr>
        <p:spPr>
          <a:xfrm>
            <a:off x="457200" y="960120"/>
            <a:ext cx="640080" cy="411480"/>
          </a:xfrm>
          <a:prstGeom prst="rect">
            <a:avLst/>
          </a:prstGeom>
          <a:noFill/>
          <a:ln/>
        </p:spPr>
        <p:txBody>
          <a:bodyPr wrap="square" rtlCol="0" anchor="ctr"/>
          <a:lstStyle/>
          <a:p>
            <a:pPr indent="0" marL="0">
              <a:buNone/>
            </a:pPr>
            <a:endParaRPr lang="en-US" dirty="0"/>
          </a:p>
        </p:txBody>
      </p:sp>
      <p:sp>
        <p:nvSpPr>
          <p:cNvPr id="5" name="Text 3"/>
          <p:cNvSpPr/>
          <p:nvPr/>
        </p:nvSpPr>
        <p:spPr>
          <a:xfrm>
            <a:off x="1097280" y="960120"/>
            <a:ext cx="283464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Module</a:t>
            </a:r>
            <a:endParaRPr lang="en-US" sz="1300" dirty="0"/>
          </a:p>
        </p:txBody>
      </p:sp>
      <p:sp>
        <p:nvSpPr>
          <p:cNvPr id="6" name="Text 4"/>
          <p:cNvSpPr/>
          <p:nvPr/>
        </p:nvSpPr>
        <p:spPr>
          <a:xfrm>
            <a:off x="3931920" y="960120"/>
            <a:ext cx="347472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Technique Used</a:t>
            </a:r>
            <a:endParaRPr lang="en-US" sz="1300" dirty="0"/>
          </a:p>
        </p:txBody>
      </p:sp>
      <p:sp>
        <p:nvSpPr>
          <p:cNvPr id="7" name="Text 5"/>
          <p:cNvSpPr/>
          <p:nvPr/>
        </p:nvSpPr>
        <p:spPr>
          <a:xfrm>
            <a:off x="7406640" y="960120"/>
            <a:ext cx="43434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p>
        </p:txBody>
      </p:sp>
      <p:sp>
        <p:nvSpPr>
          <p:cNvPr id="8" name="Shape 6"/>
          <p:cNvSpPr/>
          <p:nvPr/>
        </p:nvSpPr>
        <p:spPr>
          <a:xfrm>
            <a:off x="457200" y="1371600"/>
            <a:ext cx="11292840" cy="443484"/>
          </a:xfrm>
          <a:prstGeom prst="rect">
            <a:avLst/>
          </a:prstGeom>
          <a:solidFill>
            <a:srgbClr val="FFFFFF"/>
          </a:solidFill>
          <a:ln/>
        </p:spPr>
      </p:sp>
      <p:pic>
        <p:nvPicPr>
          <p:cNvPr id="9" name="Image 0" descr="icons/ocr.png">    </p:cNvPr>
          <p:cNvPicPr>
            <a:picLocks noChangeAspect="1"/>
          </p:cNvPicPr>
          <p:nvPr/>
        </p:nvPicPr>
        <p:blipFill>
          <a:blip r:embed="rId1"/>
          <a:stretch>
            <a:fillRect/>
          </a:stretch>
        </p:blipFill>
        <p:spPr>
          <a:xfrm>
            <a:off x="576072" y="1465326"/>
            <a:ext cx="256032" cy="256032"/>
          </a:xfrm>
          <a:prstGeom prst="rect">
            <a:avLst/>
          </a:prstGeom>
        </p:spPr>
      </p:pic>
      <p:sp>
        <p:nvSpPr>
          <p:cNvPr id="10" name="Text 7"/>
          <p:cNvSpPr/>
          <p:nvPr/>
        </p:nvSpPr>
        <p:spPr>
          <a:xfrm>
            <a:off x="1097280" y="1371600"/>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OCR</a:t>
            </a:r>
            <a:endParaRPr lang="en-US" sz="1250" dirty="0"/>
          </a:p>
        </p:txBody>
      </p:sp>
      <p:sp>
        <p:nvSpPr>
          <p:cNvPr id="11" name="Text 8"/>
          <p:cNvSpPr/>
          <p:nvPr/>
        </p:nvSpPr>
        <p:spPr>
          <a:xfrm>
            <a:off x="3931920" y="1371600"/>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PaddleOCR / Tesseract</a:t>
            </a:r>
            <a:endParaRPr lang="en-US" sz="1200" dirty="0"/>
          </a:p>
        </p:txBody>
      </p:sp>
      <p:sp>
        <p:nvSpPr>
          <p:cNvPr id="12" name="Text 9"/>
          <p:cNvSpPr/>
          <p:nvPr/>
        </p:nvSpPr>
        <p:spPr>
          <a:xfrm>
            <a:off x="7406640" y="1371600"/>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Extract invoice data</a:t>
            </a:r>
            <a:endParaRPr lang="en-US" sz="1200" dirty="0"/>
          </a:p>
        </p:txBody>
      </p:sp>
      <p:sp>
        <p:nvSpPr>
          <p:cNvPr id="13" name="Shape 10"/>
          <p:cNvSpPr/>
          <p:nvPr/>
        </p:nvSpPr>
        <p:spPr>
          <a:xfrm>
            <a:off x="457200" y="1815084"/>
            <a:ext cx="11292840" cy="443484"/>
          </a:xfrm>
          <a:prstGeom prst="rect">
            <a:avLst/>
          </a:prstGeom>
          <a:solidFill>
            <a:srgbClr val="E9EEF9"/>
          </a:solidFill>
          <a:ln/>
        </p:spPr>
      </p:sp>
      <p:pic>
        <p:nvPicPr>
          <p:cNvPr id="14" name="Image 1" descr="icons/classify.png">    </p:cNvPr>
          <p:cNvPicPr>
            <a:picLocks noChangeAspect="1"/>
          </p:cNvPicPr>
          <p:nvPr/>
        </p:nvPicPr>
        <p:blipFill>
          <a:blip r:embed="rId2"/>
          <a:stretch>
            <a:fillRect/>
          </a:stretch>
        </p:blipFill>
        <p:spPr>
          <a:xfrm>
            <a:off x="576072" y="1908810"/>
            <a:ext cx="256032" cy="256032"/>
          </a:xfrm>
          <a:prstGeom prst="rect">
            <a:avLst/>
          </a:prstGeom>
        </p:spPr>
      </p:pic>
      <p:sp>
        <p:nvSpPr>
          <p:cNvPr id="15" name="Text 11"/>
          <p:cNvSpPr/>
          <p:nvPr/>
        </p:nvSpPr>
        <p:spPr>
          <a:xfrm>
            <a:off x="1097280" y="1815084"/>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Invoice Classification</a:t>
            </a:r>
            <a:endParaRPr lang="en-US" sz="1250" dirty="0"/>
          </a:p>
        </p:txBody>
      </p:sp>
      <p:sp>
        <p:nvSpPr>
          <p:cNvPr id="16" name="Text 12"/>
          <p:cNvSpPr/>
          <p:nvPr/>
        </p:nvSpPr>
        <p:spPr>
          <a:xfrm>
            <a:off x="3931920" y="1815084"/>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BERT / Random Forest</a:t>
            </a:r>
            <a:endParaRPr lang="en-US" sz="1200" dirty="0"/>
          </a:p>
        </p:txBody>
      </p:sp>
      <p:sp>
        <p:nvSpPr>
          <p:cNvPr id="17" name="Text 13"/>
          <p:cNvSpPr/>
          <p:nvPr/>
        </p:nvSpPr>
        <p:spPr>
          <a:xfrm>
            <a:off x="7406640" y="1815084"/>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Categorize invoices</a:t>
            </a:r>
            <a:endParaRPr lang="en-US" sz="1200" dirty="0"/>
          </a:p>
        </p:txBody>
      </p:sp>
      <p:sp>
        <p:nvSpPr>
          <p:cNvPr id="18" name="Shape 14"/>
          <p:cNvSpPr/>
          <p:nvPr/>
        </p:nvSpPr>
        <p:spPr>
          <a:xfrm>
            <a:off x="457200" y="2258568"/>
            <a:ext cx="11292840" cy="443484"/>
          </a:xfrm>
          <a:prstGeom prst="rect">
            <a:avLst/>
          </a:prstGeom>
          <a:solidFill>
            <a:srgbClr val="FFFFFF"/>
          </a:solidFill>
          <a:ln/>
        </p:spPr>
      </p:sp>
      <p:pic>
        <p:nvPicPr>
          <p:cNvPr id="19" name="Image 2" descr="icons/itc.png">    </p:cNvPr>
          <p:cNvPicPr>
            <a:picLocks noChangeAspect="1"/>
          </p:cNvPicPr>
          <p:nvPr/>
        </p:nvPicPr>
        <p:blipFill>
          <a:blip r:embed="rId3"/>
          <a:stretch>
            <a:fillRect/>
          </a:stretch>
        </p:blipFill>
        <p:spPr>
          <a:xfrm>
            <a:off x="576072" y="2352294"/>
            <a:ext cx="256032" cy="256032"/>
          </a:xfrm>
          <a:prstGeom prst="rect">
            <a:avLst/>
          </a:prstGeom>
        </p:spPr>
      </p:pic>
      <p:sp>
        <p:nvSpPr>
          <p:cNvPr id="20" name="Text 15"/>
          <p:cNvSpPr/>
          <p:nvPr/>
        </p:nvSpPr>
        <p:spPr>
          <a:xfrm>
            <a:off x="1097280" y="2258568"/>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ITC Finder</a:t>
            </a:r>
            <a:endParaRPr lang="en-US" sz="1250" dirty="0"/>
          </a:p>
        </p:txBody>
      </p:sp>
      <p:sp>
        <p:nvSpPr>
          <p:cNvPr id="21" name="Text 16"/>
          <p:cNvSpPr/>
          <p:nvPr/>
        </p:nvSpPr>
        <p:spPr>
          <a:xfrm>
            <a:off x="3931920" y="2258568"/>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Rule Engine + ML</a:t>
            </a:r>
            <a:endParaRPr lang="en-US" sz="1200" dirty="0"/>
          </a:p>
        </p:txBody>
      </p:sp>
      <p:sp>
        <p:nvSpPr>
          <p:cNvPr id="22" name="Text 17"/>
          <p:cNvSpPr/>
          <p:nvPr/>
        </p:nvSpPr>
        <p:spPr>
          <a:xfrm>
            <a:off x="7406640" y="2258568"/>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Detect tax-saving opportunities</a:t>
            </a:r>
            <a:endParaRPr lang="en-US" sz="1200" dirty="0"/>
          </a:p>
        </p:txBody>
      </p:sp>
      <p:sp>
        <p:nvSpPr>
          <p:cNvPr id="23" name="Shape 18"/>
          <p:cNvSpPr/>
          <p:nvPr/>
        </p:nvSpPr>
        <p:spPr>
          <a:xfrm>
            <a:off x="457200" y="2702052"/>
            <a:ext cx="11292840" cy="443484"/>
          </a:xfrm>
          <a:prstGeom prst="rect">
            <a:avLst/>
          </a:prstGeom>
          <a:solidFill>
            <a:srgbClr val="E9EEF9"/>
          </a:solidFill>
          <a:ln/>
        </p:spPr>
      </p:sp>
      <p:pic>
        <p:nvPicPr>
          <p:cNvPr id="24" name="Image 3" descr="icons/forecast.png">    </p:cNvPr>
          <p:cNvPicPr>
            <a:picLocks noChangeAspect="1"/>
          </p:cNvPicPr>
          <p:nvPr/>
        </p:nvPicPr>
        <p:blipFill>
          <a:blip r:embed="rId4"/>
          <a:stretch>
            <a:fillRect/>
          </a:stretch>
        </p:blipFill>
        <p:spPr>
          <a:xfrm>
            <a:off x="576072" y="2795778"/>
            <a:ext cx="256032" cy="256032"/>
          </a:xfrm>
          <a:prstGeom prst="rect">
            <a:avLst/>
          </a:prstGeom>
        </p:spPr>
      </p:pic>
      <p:sp>
        <p:nvSpPr>
          <p:cNvPr id="25" name="Text 19"/>
          <p:cNvSpPr/>
          <p:nvPr/>
        </p:nvSpPr>
        <p:spPr>
          <a:xfrm>
            <a:off x="1097280" y="2702052"/>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Forecasting</a:t>
            </a:r>
            <a:endParaRPr lang="en-US" sz="1250" dirty="0"/>
          </a:p>
        </p:txBody>
      </p:sp>
      <p:sp>
        <p:nvSpPr>
          <p:cNvPr id="26" name="Text 20"/>
          <p:cNvSpPr/>
          <p:nvPr/>
        </p:nvSpPr>
        <p:spPr>
          <a:xfrm>
            <a:off x="3931920" y="2702052"/>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Prophet / LSTM</a:t>
            </a:r>
            <a:endParaRPr lang="en-US" sz="1200" dirty="0"/>
          </a:p>
        </p:txBody>
      </p:sp>
      <p:sp>
        <p:nvSpPr>
          <p:cNvPr id="27" name="Text 21"/>
          <p:cNvSpPr/>
          <p:nvPr/>
        </p:nvSpPr>
        <p:spPr>
          <a:xfrm>
            <a:off x="7406640" y="2702052"/>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Predict sales &amp; cash flow</a:t>
            </a:r>
            <a:endParaRPr lang="en-US" sz="1200" dirty="0"/>
          </a:p>
        </p:txBody>
      </p:sp>
      <p:sp>
        <p:nvSpPr>
          <p:cNvPr id="28" name="Shape 22"/>
          <p:cNvSpPr/>
          <p:nvPr/>
        </p:nvSpPr>
        <p:spPr>
          <a:xfrm>
            <a:off x="457200" y="3145536"/>
            <a:ext cx="11292840" cy="443484"/>
          </a:xfrm>
          <a:prstGeom prst="rect">
            <a:avLst/>
          </a:prstGeom>
          <a:solidFill>
            <a:srgbClr val="FFFFFF"/>
          </a:solidFill>
          <a:ln/>
        </p:spPr>
      </p:sp>
      <p:pic>
        <p:nvPicPr>
          <p:cNvPr id="29" name="Image 4" descr="icons/fraud.png">    </p:cNvPr>
          <p:cNvPicPr>
            <a:picLocks noChangeAspect="1"/>
          </p:cNvPicPr>
          <p:nvPr/>
        </p:nvPicPr>
        <p:blipFill>
          <a:blip r:embed="rId5"/>
          <a:stretch>
            <a:fillRect/>
          </a:stretch>
        </p:blipFill>
        <p:spPr>
          <a:xfrm>
            <a:off x="576072" y="3239262"/>
            <a:ext cx="256032" cy="256032"/>
          </a:xfrm>
          <a:prstGeom prst="rect">
            <a:avLst/>
          </a:prstGeom>
        </p:spPr>
      </p:pic>
      <p:sp>
        <p:nvSpPr>
          <p:cNvPr id="30" name="Text 23"/>
          <p:cNvSpPr/>
          <p:nvPr/>
        </p:nvSpPr>
        <p:spPr>
          <a:xfrm>
            <a:off x="1097280" y="3145536"/>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Fraud Detection</a:t>
            </a:r>
            <a:endParaRPr lang="en-US" sz="1250" dirty="0"/>
          </a:p>
        </p:txBody>
      </p:sp>
      <p:sp>
        <p:nvSpPr>
          <p:cNvPr id="31" name="Text 24"/>
          <p:cNvSpPr/>
          <p:nvPr/>
        </p:nvSpPr>
        <p:spPr>
          <a:xfrm>
            <a:off x="3931920" y="3145536"/>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Isolation Forest / Autoencoder</a:t>
            </a:r>
            <a:endParaRPr lang="en-US" sz="1200" dirty="0"/>
          </a:p>
        </p:txBody>
      </p:sp>
      <p:sp>
        <p:nvSpPr>
          <p:cNvPr id="32" name="Text 25"/>
          <p:cNvSpPr/>
          <p:nvPr/>
        </p:nvSpPr>
        <p:spPr>
          <a:xfrm>
            <a:off x="7406640" y="3145536"/>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Detect fake invoices</a:t>
            </a:r>
            <a:endParaRPr lang="en-US" sz="1200" dirty="0"/>
          </a:p>
        </p:txBody>
      </p:sp>
      <p:sp>
        <p:nvSpPr>
          <p:cNvPr id="33" name="Shape 26"/>
          <p:cNvSpPr/>
          <p:nvPr/>
        </p:nvSpPr>
        <p:spPr>
          <a:xfrm>
            <a:off x="457200" y="3589020"/>
            <a:ext cx="11292840" cy="443484"/>
          </a:xfrm>
          <a:prstGeom prst="rect">
            <a:avLst/>
          </a:prstGeom>
          <a:solidFill>
            <a:srgbClr val="E9EEF9"/>
          </a:solidFill>
          <a:ln/>
        </p:spPr>
      </p:sp>
      <p:pic>
        <p:nvPicPr>
          <p:cNvPr id="34" name="Image 5" descr="icons/recommend.png">    </p:cNvPr>
          <p:cNvPicPr>
            <a:picLocks noChangeAspect="1"/>
          </p:cNvPicPr>
          <p:nvPr/>
        </p:nvPicPr>
        <p:blipFill>
          <a:blip r:embed="rId6"/>
          <a:stretch>
            <a:fillRect/>
          </a:stretch>
        </p:blipFill>
        <p:spPr>
          <a:xfrm>
            <a:off x="576072" y="3682746"/>
            <a:ext cx="256032" cy="256032"/>
          </a:xfrm>
          <a:prstGeom prst="rect">
            <a:avLst/>
          </a:prstGeom>
        </p:spPr>
      </p:pic>
      <p:sp>
        <p:nvSpPr>
          <p:cNvPr id="35" name="Text 27"/>
          <p:cNvSpPr/>
          <p:nvPr/>
        </p:nvSpPr>
        <p:spPr>
          <a:xfrm>
            <a:off x="1097280" y="3589020"/>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Recommendation Engine</a:t>
            </a:r>
            <a:endParaRPr lang="en-US" sz="1250" dirty="0"/>
          </a:p>
        </p:txBody>
      </p:sp>
      <p:sp>
        <p:nvSpPr>
          <p:cNvPr id="36" name="Text 28"/>
          <p:cNvSpPr/>
          <p:nvPr/>
        </p:nvSpPr>
        <p:spPr>
          <a:xfrm>
            <a:off x="3931920" y="3589020"/>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ML + LLM</a:t>
            </a:r>
            <a:endParaRPr lang="en-US" sz="1200" dirty="0"/>
          </a:p>
        </p:txBody>
      </p:sp>
      <p:sp>
        <p:nvSpPr>
          <p:cNvPr id="37" name="Text 29"/>
          <p:cNvSpPr/>
          <p:nvPr/>
        </p:nvSpPr>
        <p:spPr>
          <a:xfrm>
            <a:off x="7406640" y="3589020"/>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Suggest business actions</a:t>
            </a:r>
            <a:endParaRPr lang="en-US" sz="1200" dirty="0"/>
          </a:p>
        </p:txBody>
      </p:sp>
      <p:sp>
        <p:nvSpPr>
          <p:cNvPr id="38" name="Shape 30"/>
          <p:cNvSpPr/>
          <p:nvPr/>
        </p:nvSpPr>
        <p:spPr>
          <a:xfrm>
            <a:off x="457200" y="4032504"/>
            <a:ext cx="11292840" cy="443484"/>
          </a:xfrm>
          <a:prstGeom prst="rect">
            <a:avLst/>
          </a:prstGeom>
          <a:solidFill>
            <a:srgbClr val="FFFFFF"/>
          </a:solidFill>
          <a:ln/>
        </p:spPr>
      </p:sp>
      <p:pic>
        <p:nvPicPr>
          <p:cNvPr id="39" name="Image 6" descr="icons/copilot.png">    </p:cNvPr>
          <p:cNvPicPr>
            <a:picLocks noChangeAspect="1"/>
          </p:cNvPicPr>
          <p:nvPr/>
        </p:nvPicPr>
        <p:blipFill>
          <a:blip r:embed="rId7"/>
          <a:stretch>
            <a:fillRect/>
          </a:stretch>
        </p:blipFill>
        <p:spPr>
          <a:xfrm>
            <a:off x="576072" y="4126230"/>
            <a:ext cx="256032" cy="256032"/>
          </a:xfrm>
          <a:prstGeom prst="rect">
            <a:avLst/>
          </a:prstGeom>
        </p:spPr>
      </p:pic>
      <p:sp>
        <p:nvSpPr>
          <p:cNvPr id="40" name="Text 31"/>
          <p:cNvSpPr/>
          <p:nvPr/>
        </p:nvSpPr>
        <p:spPr>
          <a:xfrm>
            <a:off x="1097280" y="4032504"/>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AI Copilot</a:t>
            </a:r>
            <a:endParaRPr lang="en-US" sz="1250" dirty="0"/>
          </a:p>
        </p:txBody>
      </p:sp>
      <p:sp>
        <p:nvSpPr>
          <p:cNvPr id="41" name="Text 32"/>
          <p:cNvSpPr/>
          <p:nvPr/>
        </p:nvSpPr>
        <p:spPr>
          <a:xfrm>
            <a:off x="3931920" y="4032504"/>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Llama / GPT + RAG</a:t>
            </a:r>
            <a:endParaRPr lang="en-US" sz="1200" dirty="0"/>
          </a:p>
        </p:txBody>
      </p:sp>
      <p:sp>
        <p:nvSpPr>
          <p:cNvPr id="42" name="Text 33"/>
          <p:cNvSpPr/>
          <p:nvPr/>
        </p:nvSpPr>
        <p:spPr>
          <a:xfrm>
            <a:off x="7406640" y="4032504"/>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Answer GST questions</a:t>
            </a:r>
            <a:endParaRPr lang="en-US" sz="1200" dirty="0"/>
          </a:p>
        </p:txBody>
      </p:sp>
      <p:sp>
        <p:nvSpPr>
          <p:cNvPr id="43" name="Shape 34"/>
          <p:cNvSpPr/>
          <p:nvPr/>
        </p:nvSpPr>
        <p:spPr>
          <a:xfrm>
            <a:off x="457200" y="4475988"/>
            <a:ext cx="11292840" cy="443484"/>
          </a:xfrm>
          <a:prstGeom prst="rect">
            <a:avLst/>
          </a:prstGeom>
          <a:solidFill>
            <a:srgbClr val="E9EEF9"/>
          </a:solidFill>
          <a:ln/>
        </p:spPr>
      </p:sp>
      <p:pic>
        <p:nvPicPr>
          <p:cNvPr id="44" name="Image 7" descr="icons/speech.png">    </p:cNvPr>
          <p:cNvPicPr>
            <a:picLocks noChangeAspect="1"/>
          </p:cNvPicPr>
          <p:nvPr/>
        </p:nvPicPr>
        <p:blipFill>
          <a:blip r:embed="rId8"/>
          <a:stretch>
            <a:fillRect/>
          </a:stretch>
        </p:blipFill>
        <p:spPr>
          <a:xfrm>
            <a:off x="576072" y="4569714"/>
            <a:ext cx="256032" cy="256032"/>
          </a:xfrm>
          <a:prstGeom prst="rect">
            <a:avLst/>
          </a:prstGeom>
        </p:spPr>
      </p:pic>
      <p:sp>
        <p:nvSpPr>
          <p:cNvPr id="45" name="Text 35"/>
          <p:cNvSpPr/>
          <p:nvPr/>
        </p:nvSpPr>
        <p:spPr>
          <a:xfrm>
            <a:off x="1097280" y="4475988"/>
            <a:ext cx="2834640" cy="443484"/>
          </a:xfrm>
          <a:prstGeom prst="rect">
            <a:avLst/>
          </a:prstGeom>
          <a:noFill/>
          <a:ln/>
        </p:spPr>
        <p:txBody>
          <a:bodyPr wrap="square" rtlCol="0" anchor="ctr"/>
          <a:lstStyle/>
          <a:p>
            <a:pPr indent="0" marL="0">
              <a:buNone/>
            </a:pPr>
            <a:r>
              <a:rPr lang="en-US" sz="1250" b="1" dirty="0">
                <a:solidFill>
                  <a:srgbClr val="141B47"/>
                </a:solidFill>
                <a:latin typeface="Calibri" pitchFamily="34" charset="0"/>
                <a:ea typeface="Calibri" pitchFamily="34" charset="-122"/>
                <a:cs typeface="Calibri" pitchFamily="34" charset="-120"/>
              </a:rPr>
              <a:t>Speech Module</a:t>
            </a:r>
            <a:endParaRPr lang="en-US" sz="1250" dirty="0"/>
          </a:p>
        </p:txBody>
      </p:sp>
      <p:sp>
        <p:nvSpPr>
          <p:cNvPr id="46" name="Text 36"/>
          <p:cNvSpPr/>
          <p:nvPr/>
        </p:nvSpPr>
        <p:spPr>
          <a:xfrm>
            <a:off x="3931920" y="4475988"/>
            <a:ext cx="3474720" cy="443484"/>
          </a:xfrm>
          <a:prstGeom prst="rect">
            <a:avLst/>
          </a:prstGeom>
          <a:noFill/>
          <a:ln/>
        </p:spPr>
        <p:txBody>
          <a:bodyPr wrap="square" rtlCol="0" anchor="ctr"/>
          <a:lstStyle/>
          <a:p>
            <a:pPr indent="0" marL="0">
              <a:buNone/>
            </a:pPr>
            <a:r>
              <a:rPr lang="en-US" sz="1200" dirty="0">
                <a:solidFill>
                  <a:srgbClr val="5A6472"/>
                </a:solidFill>
                <a:latin typeface="Calibri" pitchFamily="34" charset="0"/>
                <a:ea typeface="Calibri" pitchFamily="34" charset="-122"/>
                <a:cs typeface="Calibri" pitchFamily="34" charset="-120"/>
              </a:rPr>
              <a:t>Whisper</a:t>
            </a:r>
            <a:endParaRPr lang="en-US" sz="1200" dirty="0"/>
          </a:p>
        </p:txBody>
      </p:sp>
      <p:sp>
        <p:nvSpPr>
          <p:cNvPr id="47" name="Text 37"/>
          <p:cNvSpPr/>
          <p:nvPr/>
        </p:nvSpPr>
        <p:spPr>
          <a:xfrm>
            <a:off x="7406640" y="4475988"/>
            <a:ext cx="4343400" cy="443484"/>
          </a:xfrm>
          <a:prstGeom prst="rect">
            <a:avLst/>
          </a:prstGeom>
          <a:noFill/>
          <a:ln/>
        </p:spPr>
        <p:txBody>
          <a:bodyPr wrap="square" rtlCol="0" anchor="ctr"/>
          <a:lstStyle/>
          <a:p>
            <a:pPr indent="0" marL="0">
              <a:buNone/>
            </a:pPr>
            <a:r>
              <a:rPr lang="en-US" sz="1200" dirty="0">
                <a:solidFill>
                  <a:srgbClr val="141B47"/>
                </a:solidFill>
                <a:latin typeface="Calibri" pitchFamily="34" charset="0"/>
                <a:ea typeface="Calibri" pitchFamily="34" charset="-122"/>
                <a:cs typeface="Calibri" pitchFamily="34" charset="-120"/>
              </a:rPr>
              <a:t>Voice interaction</a:t>
            </a:r>
            <a:endParaRPr lang="en-US" sz="1200" dirty="0"/>
          </a:p>
        </p:txBody>
      </p:sp>
      <p:sp>
        <p:nvSpPr>
          <p:cNvPr id="48" name="Text 38"/>
          <p:cNvSpPr/>
          <p:nvPr/>
        </p:nvSpPr>
        <p:spPr>
          <a:xfrm>
            <a:off x="457200" y="5148072"/>
            <a:ext cx="2743200" cy="32004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Benefits</a:t>
            </a:r>
            <a:endParaRPr lang="en-US" sz="1500" dirty="0"/>
          </a:p>
        </p:txBody>
      </p:sp>
      <p:sp>
        <p:nvSpPr>
          <p:cNvPr id="49" name="Shape 39"/>
          <p:cNvSpPr/>
          <p:nvPr/>
        </p:nvSpPr>
        <p:spPr>
          <a:xfrm>
            <a:off x="457200" y="5513832"/>
            <a:ext cx="2651760" cy="502920"/>
          </a:xfrm>
          <a:prstGeom prst="roundRect">
            <a:avLst>
              <a:gd name="adj" fmla="val 14545"/>
            </a:avLst>
          </a:prstGeom>
          <a:solidFill>
            <a:srgbClr val="02C39A"/>
          </a:solidFill>
          <a:ln/>
        </p:spPr>
      </p:sp>
      <p:sp>
        <p:nvSpPr>
          <p:cNvPr id="50" name="Text 40"/>
          <p:cNvSpPr/>
          <p:nvPr/>
        </p:nvSpPr>
        <p:spPr>
          <a:xfrm>
            <a:off x="457200" y="5513832"/>
            <a:ext cx="2651760" cy="5029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Automation</a:t>
            </a:r>
            <a:endParaRPr lang="en-US" sz="1250" dirty="0"/>
          </a:p>
        </p:txBody>
      </p:sp>
      <p:sp>
        <p:nvSpPr>
          <p:cNvPr id="51" name="Shape 41"/>
          <p:cNvSpPr/>
          <p:nvPr/>
        </p:nvSpPr>
        <p:spPr>
          <a:xfrm>
            <a:off x="3337560" y="5513832"/>
            <a:ext cx="2651760" cy="502920"/>
          </a:xfrm>
          <a:prstGeom prst="roundRect">
            <a:avLst>
              <a:gd name="adj" fmla="val 14545"/>
            </a:avLst>
          </a:prstGeom>
          <a:solidFill>
            <a:srgbClr val="02C39A"/>
          </a:solidFill>
          <a:ln/>
        </p:spPr>
      </p:sp>
      <p:sp>
        <p:nvSpPr>
          <p:cNvPr id="52" name="Text 42"/>
          <p:cNvSpPr/>
          <p:nvPr/>
        </p:nvSpPr>
        <p:spPr>
          <a:xfrm>
            <a:off x="3337560" y="5513832"/>
            <a:ext cx="2651760" cy="5029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High Accuracy</a:t>
            </a:r>
            <a:endParaRPr lang="en-US" sz="1250" dirty="0"/>
          </a:p>
        </p:txBody>
      </p:sp>
      <p:sp>
        <p:nvSpPr>
          <p:cNvPr id="53" name="Shape 43"/>
          <p:cNvSpPr/>
          <p:nvPr/>
        </p:nvSpPr>
        <p:spPr>
          <a:xfrm>
            <a:off x="6217920" y="5513832"/>
            <a:ext cx="2651760" cy="502920"/>
          </a:xfrm>
          <a:prstGeom prst="roundRect">
            <a:avLst>
              <a:gd name="adj" fmla="val 14545"/>
            </a:avLst>
          </a:prstGeom>
          <a:solidFill>
            <a:srgbClr val="02C39A"/>
          </a:solidFill>
          <a:ln/>
        </p:spPr>
      </p:sp>
      <p:sp>
        <p:nvSpPr>
          <p:cNvPr id="54" name="Text 44"/>
          <p:cNvSpPr/>
          <p:nvPr/>
        </p:nvSpPr>
        <p:spPr>
          <a:xfrm>
            <a:off x="6217920" y="5513832"/>
            <a:ext cx="2651760" cy="5029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Faster Decision Making</a:t>
            </a:r>
            <a:endParaRPr lang="en-US" sz="1250" dirty="0"/>
          </a:p>
        </p:txBody>
      </p:sp>
      <p:sp>
        <p:nvSpPr>
          <p:cNvPr id="55" name="Shape 45"/>
          <p:cNvSpPr/>
          <p:nvPr/>
        </p:nvSpPr>
        <p:spPr>
          <a:xfrm>
            <a:off x="9098280" y="5513832"/>
            <a:ext cx="2651760" cy="502920"/>
          </a:xfrm>
          <a:prstGeom prst="roundRect">
            <a:avLst>
              <a:gd name="adj" fmla="val 14545"/>
            </a:avLst>
          </a:prstGeom>
          <a:solidFill>
            <a:srgbClr val="02C39A"/>
          </a:solidFill>
          <a:ln/>
        </p:spPr>
      </p:sp>
      <p:sp>
        <p:nvSpPr>
          <p:cNvPr id="56" name="Text 46"/>
          <p:cNvSpPr/>
          <p:nvPr/>
        </p:nvSpPr>
        <p:spPr>
          <a:xfrm>
            <a:off x="9098280" y="5513832"/>
            <a:ext cx="2651760" cy="5029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Reduced Human Errors</a:t>
            </a:r>
            <a:endParaRPr lang="en-US" sz="1250" dirty="0"/>
          </a:p>
        </p:txBody>
      </p:sp>
      <p:sp>
        <p:nvSpPr>
          <p:cNvPr id="57" name="Text 47"/>
          <p:cNvSpPr/>
          <p:nvPr/>
        </p:nvSpPr>
        <p:spPr>
          <a:xfrm>
            <a:off x="457200" y="6492240"/>
            <a:ext cx="548640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VendorAI  |  Core AI Modules</a:t>
            </a:r>
            <a:endParaRPr lang="en-US" sz="1000" dirty="0"/>
          </a:p>
        </p:txBody>
      </p:sp>
      <p:sp>
        <p:nvSpPr>
          <p:cNvPr id="58" name="Text 48"/>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320040"/>
            <a:ext cx="10058400" cy="45720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Major Features &amp; Technology Stack</a:t>
            </a:r>
            <a:endParaRPr lang="en-US" sz="2800" dirty="0"/>
          </a:p>
        </p:txBody>
      </p:sp>
      <p:sp>
        <p:nvSpPr>
          <p:cNvPr id="3" name="Shape 1"/>
          <p:cNvSpPr/>
          <p:nvPr/>
        </p:nvSpPr>
        <p:spPr>
          <a:xfrm>
            <a:off x="457200" y="960120"/>
            <a:ext cx="5532120" cy="5394960"/>
          </a:xfrm>
          <a:prstGeom prst="rect">
            <a:avLst>
              <a:gd name="adj" fmla="val 1356"/>
            </a:avLst>
          </a:prstGeom>
          <a:solidFill>
            <a:srgbClr val="FFFFFF"/>
          </a:solidFill>
          <a:ln/>
          <a:effectLst>
            <a:outerShdw sx="100000" sy="100000" kx="0" ky="0" algn="bl" rotWithShape="0" blurRad="101600" dist="38100" dir="5400000">
              <a:srgbClr val="1E2761">
                <a:alpha val="18000"/>
              </a:srgbClr>
            </a:outerShdw>
          </a:effectLst>
        </p:spPr>
      </p:sp>
      <p:sp>
        <p:nvSpPr>
          <p:cNvPr id="4" name="Text 2"/>
          <p:cNvSpPr/>
          <p:nvPr/>
        </p:nvSpPr>
        <p:spPr>
          <a:xfrm>
            <a:off x="731520" y="1170432"/>
            <a:ext cx="5029200" cy="365760"/>
          </a:xfrm>
          <a:prstGeom prst="rect">
            <a:avLst/>
          </a:prstGeom>
          <a:noFill/>
          <a:ln/>
        </p:spPr>
        <p:txBody>
          <a:bodyPr wrap="square"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Business Features</a:t>
            </a:r>
            <a:endParaRPr lang="en-US" sz="1700" dirty="0"/>
          </a:p>
        </p:txBody>
      </p:sp>
      <p:sp>
        <p:nvSpPr>
          <p:cNvPr id="5" name="Shape 3"/>
          <p:cNvSpPr/>
          <p:nvPr/>
        </p:nvSpPr>
        <p:spPr>
          <a:xfrm>
            <a:off x="777240" y="1764792"/>
            <a:ext cx="128016" cy="128016"/>
          </a:xfrm>
          <a:prstGeom prst="ellipse">
            <a:avLst/>
          </a:prstGeom>
          <a:solidFill>
            <a:srgbClr val="02C39A"/>
          </a:solidFill>
          <a:ln/>
        </p:spPr>
      </p:sp>
      <p:sp>
        <p:nvSpPr>
          <p:cNvPr id="6" name="Text 4"/>
          <p:cNvSpPr/>
          <p:nvPr/>
        </p:nvSpPr>
        <p:spPr>
          <a:xfrm>
            <a:off x="1051560" y="1636776"/>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Automated Invoice Processing</a:t>
            </a:r>
            <a:endParaRPr lang="en-US" sz="1400" dirty="0"/>
          </a:p>
        </p:txBody>
      </p:sp>
      <p:sp>
        <p:nvSpPr>
          <p:cNvPr id="7" name="Shape 5"/>
          <p:cNvSpPr/>
          <p:nvPr/>
        </p:nvSpPr>
        <p:spPr>
          <a:xfrm>
            <a:off x="777240" y="2331720"/>
            <a:ext cx="128016" cy="128016"/>
          </a:xfrm>
          <a:prstGeom prst="ellipse">
            <a:avLst/>
          </a:prstGeom>
          <a:solidFill>
            <a:srgbClr val="02C39A"/>
          </a:solidFill>
          <a:ln/>
        </p:spPr>
      </p:sp>
      <p:sp>
        <p:nvSpPr>
          <p:cNvPr id="8" name="Text 6"/>
          <p:cNvSpPr/>
          <p:nvPr/>
        </p:nvSpPr>
        <p:spPr>
          <a:xfrm>
            <a:off x="1051560" y="2203704"/>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GST Calculation</a:t>
            </a:r>
            <a:endParaRPr lang="en-US" sz="1400" dirty="0"/>
          </a:p>
        </p:txBody>
      </p:sp>
      <p:sp>
        <p:nvSpPr>
          <p:cNvPr id="9" name="Shape 7"/>
          <p:cNvSpPr/>
          <p:nvPr/>
        </p:nvSpPr>
        <p:spPr>
          <a:xfrm>
            <a:off x="777240" y="2898648"/>
            <a:ext cx="128016" cy="128016"/>
          </a:xfrm>
          <a:prstGeom prst="ellipse">
            <a:avLst/>
          </a:prstGeom>
          <a:solidFill>
            <a:srgbClr val="02C39A"/>
          </a:solidFill>
          <a:ln/>
        </p:spPr>
      </p:sp>
      <p:sp>
        <p:nvSpPr>
          <p:cNvPr id="10" name="Text 8"/>
          <p:cNvSpPr/>
          <p:nvPr/>
        </p:nvSpPr>
        <p:spPr>
          <a:xfrm>
            <a:off x="1051560" y="2770632"/>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ITC Optimization</a:t>
            </a:r>
            <a:endParaRPr lang="en-US" sz="1400" dirty="0"/>
          </a:p>
        </p:txBody>
      </p:sp>
      <p:sp>
        <p:nvSpPr>
          <p:cNvPr id="11" name="Shape 9"/>
          <p:cNvSpPr/>
          <p:nvPr/>
        </p:nvSpPr>
        <p:spPr>
          <a:xfrm>
            <a:off x="777240" y="3465576"/>
            <a:ext cx="128016" cy="128016"/>
          </a:xfrm>
          <a:prstGeom prst="ellipse">
            <a:avLst/>
          </a:prstGeom>
          <a:solidFill>
            <a:srgbClr val="02C39A"/>
          </a:solidFill>
          <a:ln/>
        </p:spPr>
      </p:sp>
      <p:sp>
        <p:nvSpPr>
          <p:cNvPr id="12" name="Text 10"/>
          <p:cNvSpPr/>
          <p:nvPr/>
        </p:nvSpPr>
        <p:spPr>
          <a:xfrm>
            <a:off x="1051560" y="3337560"/>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Financial Forecasting</a:t>
            </a:r>
            <a:endParaRPr lang="en-US" sz="1400" dirty="0"/>
          </a:p>
        </p:txBody>
      </p:sp>
      <p:sp>
        <p:nvSpPr>
          <p:cNvPr id="13" name="Shape 11"/>
          <p:cNvSpPr/>
          <p:nvPr/>
        </p:nvSpPr>
        <p:spPr>
          <a:xfrm>
            <a:off x="777240" y="4032504"/>
            <a:ext cx="128016" cy="128016"/>
          </a:xfrm>
          <a:prstGeom prst="ellipse">
            <a:avLst/>
          </a:prstGeom>
          <a:solidFill>
            <a:srgbClr val="02C39A"/>
          </a:solidFill>
          <a:ln/>
        </p:spPr>
      </p:sp>
      <p:sp>
        <p:nvSpPr>
          <p:cNvPr id="14" name="Text 12"/>
          <p:cNvSpPr/>
          <p:nvPr/>
        </p:nvSpPr>
        <p:spPr>
          <a:xfrm>
            <a:off x="1051560" y="3904488"/>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Fraud Detection</a:t>
            </a:r>
            <a:endParaRPr lang="en-US" sz="1400" dirty="0"/>
          </a:p>
        </p:txBody>
      </p:sp>
      <p:sp>
        <p:nvSpPr>
          <p:cNvPr id="15" name="Shape 13"/>
          <p:cNvSpPr/>
          <p:nvPr/>
        </p:nvSpPr>
        <p:spPr>
          <a:xfrm>
            <a:off x="777240" y="4599432"/>
            <a:ext cx="128016" cy="128016"/>
          </a:xfrm>
          <a:prstGeom prst="ellipse">
            <a:avLst/>
          </a:prstGeom>
          <a:solidFill>
            <a:srgbClr val="02C39A"/>
          </a:solidFill>
          <a:ln/>
        </p:spPr>
      </p:sp>
      <p:sp>
        <p:nvSpPr>
          <p:cNvPr id="16" name="Text 14"/>
          <p:cNvSpPr/>
          <p:nvPr/>
        </p:nvSpPr>
        <p:spPr>
          <a:xfrm>
            <a:off x="1051560" y="4471416"/>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Inventory Alerts</a:t>
            </a:r>
            <a:endParaRPr lang="en-US" sz="1400" dirty="0"/>
          </a:p>
        </p:txBody>
      </p:sp>
      <p:sp>
        <p:nvSpPr>
          <p:cNvPr id="17" name="Shape 15"/>
          <p:cNvSpPr/>
          <p:nvPr/>
        </p:nvSpPr>
        <p:spPr>
          <a:xfrm>
            <a:off x="777240" y="5166360"/>
            <a:ext cx="128016" cy="128016"/>
          </a:xfrm>
          <a:prstGeom prst="ellipse">
            <a:avLst/>
          </a:prstGeom>
          <a:solidFill>
            <a:srgbClr val="02C39A"/>
          </a:solidFill>
          <a:ln/>
        </p:spPr>
      </p:sp>
      <p:sp>
        <p:nvSpPr>
          <p:cNvPr id="18" name="Text 16"/>
          <p:cNvSpPr/>
          <p:nvPr/>
        </p:nvSpPr>
        <p:spPr>
          <a:xfrm>
            <a:off x="1051560" y="5038344"/>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Compliance Monitoring</a:t>
            </a:r>
            <a:endParaRPr lang="en-US" sz="1400" dirty="0"/>
          </a:p>
        </p:txBody>
      </p:sp>
      <p:sp>
        <p:nvSpPr>
          <p:cNvPr id="19" name="Shape 17"/>
          <p:cNvSpPr/>
          <p:nvPr/>
        </p:nvSpPr>
        <p:spPr>
          <a:xfrm>
            <a:off x="777240" y="5733288"/>
            <a:ext cx="128016" cy="128016"/>
          </a:xfrm>
          <a:prstGeom prst="ellipse">
            <a:avLst/>
          </a:prstGeom>
          <a:solidFill>
            <a:srgbClr val="02C39A"/>
          </a:solidFill>
          <a:ln/>
        </p:spPr>
      </p:sp>
      <p:sp>
        <p:nvSpPr>
          <p:cNvPr id="20" name="Text 18"/>
          <p:cNvSpPr/>
          <p:nvPr/>
        </p:nvSpPr>
        <p:spPr>
          <a:xfrm>
            <a:off x="1051560" y="5605272"/>
            <a:ext cx="4754880" cy="384048"/>
          </a:xfrm>
          <a:prstGeom prst="rect">
            <a:avLst/>
          </a:prstGeom>
          <a:noFill/>
          <a:ln/>
        </p:spPr>
        <p:txBody>
          <a:bodyPr wrap="square" rtlCol="0" anchor="ctr"/>
          <a:lstStyle/>
          <a:p>
            <a:pPr indent="0" marL="0">
              <a:buNone/>
            </a:pPr>
            <a:r>
              <a:rPr lang="en-US" sz="1400" dirty="0">
                <a:solidFill>
                  <a:srgbClr val="141B47"/>
                </a:solidFill>
                <a:latin typeface="Calibri" pitchFamily="34" charset="0"/>
                <a:ea typeface="Calibri" pitchFamily="34" charset="-122"/>
                <a:cs typeface="Calibri" pitchFamily="34" charset="-120"/>
              </a:rPr>
              <a:t>AI Chatbot</a:t>
            </a:r>
            <a:endParaRPr lang="en-US" sz="1400" dirty="0"/>
          </a:p>
        </p:txBody>
      </p:sp>
      <p:sp>
        <p:nvSpPr>
          <p:cNvPr id="21" name="Shape 19"/>
          <p:cNvSpPr/>
          <p:nvPr/>
        </p:nvSpPr>
        <p:spPr>
          <a:xfrm>
            <a:off x="6199632" y="960120"/>
            <a:ext cx="5532120" cy="5394960"/>
          </a:xfrm>
          <a:prstGeom prst="rect">
            <a:avLst>
              <a:gd name="adj" fmla="val 1356"/>
            </a:avLst>
          </a:prstGeom>
          <a:solidFill>
            <a:srgbClr val="1E2761"/>
          </a:solidFill>
          <a:ln/>
          <a:effectLst>
            <a:outerShdw sx="100000" sy="100000" kx="0" ky="0" algn="bl" rotWithShape="0" blurRad="101600" dist="38100" dir="5400000">
              <a:srgbClr val="1E2761">
                <a:alpha val="18000"/>
              </a:srgbClr>
            </a:outerShdw>
          </a:effectLst>
        </p:spPr>
      </p:sp>
      <p:sp>
        <p:nvSpPr>
          <p:cNvPr id="22" name="Text 20"/>
          <p:cNvSpPr/>
          <p:nvPr/>
        </p:nvSpPr>
        <p:spPr>
          <a:xfrm>
            <a:off x="6473952" y="1170432"/>
            <a:ext cx="5029200" cy="3657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Technology Stack</a:t>
            </a:r>
            <a:endParaRPr lang="en-US" sz="1700" dirty="0"/>
          </a:p>
        </p:txBody>
      </p:sp>
      <p:sp>
        <p:nvSpPr>
          <p:cNvPr id="23" name="Shape 21"/>
          <p:cNvSpPr/>
          <p:nvPr/>
        </p:nvSpPr>
        <p:spPr>
          <a:xfrm>
            <a:off x="6492240" y="1691640"/>
            <a:ext cx="457200" cy="457200"/>
          </a:xfrm>
          <a:prstGeom prst="ellipse">
            <a:avLst/>
          </a:prstGeom>
          <a:solidFill>
            <a:srgbClr val="02C39A"/>
          </a:solidFill>
          <a:ln/>
        </p:spPr>
      </p:sp>
      <p:pic>
        <p:nvPicPr>
          <p:cNvPr id="24" name="Image 0" descr="icons/react.png">    </p:cNvPr>
          <p:cNvPicPr>
            <a:picLocks noChangeAspect="1"/>
          </p:cNvPicPr>
          <p:nvPr/>
        </p:nvPicPr>
        <p:blipFill>
          <a:blip r:embed="rId1"/>
          <a:stretch>
            <a:fillRect/>
          </a:stretch>
        </p:blipFill>
        <p:spPr>
          <a:xfrm>
            <a:off x="6601968" y="1801368"/>
            <a:ext cx="237744" cy="237744"/>
          </a:xfrm>
          <a:prstGeom prst="rect">
            <a:avLst/>
          </a:prstGeom>
        </p:spPr>
      </p:pic>
      <p:sp>
        <p:nvSpPr>
          <p:cNvPr id="25" name="Text 22"/>
          <p:cNvSpPr/>
          <p:nvPr/>
        </p:nvSpPr>
        <p:spPr>
          <a:xfrm>
            <a:off x="7114032" y="1645920"/>
            <a:ext cx="1554480" cy="5486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Frontend</a:t>
            </a:r>
            <a:endParaRPr lang="en-US" sz="1300" dirty="0"/>
          </a:p>
        </p:txBody>
      </p:sp>
      <p:sp>
        <p:nvSpPr>
          <p:cNvPr id="26" name="Text 23"/>
          <p:cNvSpPr/>
          <p:nvPr/>
        </p:nvSpPr>
        <p:spPr>
          <a:xfrm>
            <a:off x="8686800" y="1645920"/>
            <a:ext cx="288036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React.js</a:t>
            </a:r>
            <a:endParaRPr lang="en-US" sz="1300" dirty="0"/>
          </a:p>
        </p:txBody>
      </p:sp>
      <p:sp>
        <p:nvSpPr>
          <p:cNvPr id="27" name="Shape 24"/>
          <p:cNvSpPr/>
          <p:nvPr/>
        </p:nvSpPr>
        <p:spPr>
          <a:xfrm>
            <a:off x="6492240" y="2377440"/>
            <a:ext cx="457200" cy="457200"/>
          </a:xfrm>
          <a:prstGeom prst="ellipse">
            <a:avLst/>
          </a:prstGeom>
          <a:solidFill>
            <a:srgbClr val="02C39A"/>
          </a:solidFill>
          <a:ln/>
        </p:spPr>
      </p:sp>
      <p:pic>
        <p:nvPicPr>
          <p:cNvPr id="28" name="Image 1" descr="icons/backend.png">    </p:cNvPr>
          <p:cNvPicPr>
            <a:picLocks noChangeAspect="1"/>
          </p:cNvPicPr>
          <p:nvPr/>
        </p:nvPicPr>
        <p:blipFill>
          <a:blip r:embed="rId2"/>
          <a:stretch>
            <a:fillRect/>
          </a:stretch>
        </p:blipFill>
        <p:spPr>
          <a:xfrm>
            <a:off x="6601968" y="2487168"/>
            <a:ext cx="237744" cy="237744"/>
          </a:xfrm>
          <a:prstGeom prst="rect">
            <a:avLst/>
          </a:prstGeom>
        </p:spPr>
      </p:pic>
      <p:sp>
        <p:nvSpPr>
          <p:cNvPr id="29" name="Text 25"/>
          <p:cNvSpPr/>
          <p:nvPr/>
        </p:nvSpPr>
        <p:spPr>
          <a:xfrm>
            <a:off x="7114032" y="2331720"/>
            <a:ext cx="1554480" cy="5486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Backend</a:t>
            </a:r>
            <a:endParaRPr lang="en-US" sz="1300" dirty="0"/>
          </a:p>
        </p:txBody>
      </p:sp>
      <p:sp>
        <p:nvSpPr>
          <p:cNvPr id="30" name="Text 26"/>
          <p:cNvSpPr/>
          <p:nvPr/>
        </p:nvSpPr>
        <p:spPr>
          <a:xfrm>
            <a:off x="8686800" y="2331720"/>
            <a:ext cx="288036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FastAPI</a:t>
            </a:r>
            <a:endParaRPr lang="en-US" sz="1300" dirty="0"/>
          </a:p>
        </p:txBody>
      </p:sp>
      <p:sp>
        <p:nvSpPr>
          <p:cNvPr id="31" name="Shape 27"/>
          <p:cNvSpPr/>
          <p:nvPr/>
        </p:nvSpPr>
        <p:spPr>
          <a:xfrm>
            <a:off x="6492240" y="3063240"/>
            <a:ext cx="457200" cy="457200"/>
          </a:xfrm>
          <a:prstGeom prst="ellipse">
            <a:avLst/>
          </a:prstGeom>
          <a:solidFill>
            <a:srgbClr val="02C39A"/>
          </a:solidFill>
          <a:ln/>
        </p:spPr>
      </p:sp>
      <p:pic>
        <p:nvPicPr>
          <p:cNvPr id="32" name="Image 2" descr="icons/db.png">    </p:cNvPr>
          <p:cNvPicPr>
            <a:picLocks noChangeAspect="1"/>
          </p:cNvPicPr>
          <p:nvPr/>
        </p:nvPicPr>
        <p:blipFill>
          <a:blip r:embed="rId3"/>
          <a:stretch>
            <a:fillRect/>
          </a:stretch>
        </p:blipFill>
        <p:spPr>
          <a:xfrm>
            <a:off x="6601968" y="3172968"/>
            <a:ext cx="237744" cy="237744"/>
          </a:xfrm>
          <a:prstGeom prst="rect">
            <a:avLst/>
          </a:prstGeom>
        </p:spPr>
      </p:pic>
      <p:sp>
        <p:nvSpPr>
          <p:cNvPr id="33" name="Text 28"/>
          <p:cNvSpPr/>
          <p:nvPr/>
        </p:nvSpPr>
        <p:spPr>
          <a:xfrm>
            <a:off x="7114032" y="3017520"/>
            <a:ext cx="1554480" cy="5486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Database</a:t>
            </a:r>
            <a:endParaRPr lang="en-US" sz="1300" dirty="0"/>
          </a:p>
        </p:txBody>
      </p:sp>
      <p:sp>
        <p:nvSpPr>
          <p:cNvPr id="34" name="Text 29"/>
          <p:cNvSpPr/>
          <p:nvPr/>
        </p:nvSpPr>
        <p:spPr>
          <a:xfrm>
            <a:off x="8686800" y="3017520"/>
            <a:ext cx="288036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PostgreSQL</a:t>
            </a:r>
            <a:endParaRPr lang="en-US" sz="1300" dirty="0"/>
          </a:p>
        </p:txBody>
      </p:sp>
      <p:sp>
        <p:nvSpPr>
          <p:cNvPr id="35" name="Shape 30"/>
          <p:cNvSpPr/>
          <p:nvPr/>
        </p:nvSpPr>
        <p:spPr>
          <a:xfrm>
            <a:off x="6492240" y="3749040"/>
            <a:ext cx="457200" cy="457200"/>
          </a:xfrm>
          <a:prstGeom prst="ellipse">
            <a:avLst/>
          </a:prstGeom>
          <a:solidFill>
            <a:srgbClr val="02C39A"/>
          </a:solidFill>
          <a:ln/>
        </p:spPr>
      </p:sp>
      <p:pic>
        <p:nvPicPr>
          <p:cNvPr id="36" name="Image 3" descr="icons/aiml.png">    </p:cNvPr>
          <p:cNvPicPr>
            <a:picLocks noChangeAspect="1"/>
          </p:cNvPicPr>
          <p:nvPr/>
        </p:nvPicPr>
        <p:blipFill>
          <a:blip r:embed="rId4"/>
          <a:stretch>
            <a:fillRect/>
          </a:stretch>
        </p:blipFill>
        <p:spPr>
          <a:xfrm>
            <a:off x="6601968" y="3858768"/>
            <a:ext cx="237744" cy="237744"/>
          </a:xfrm>
          <a:prstGeom prst="rect">
            <a:avLst/>
          </a:prstGeom>
        </p:spPr>
      </p:pic>
      <p:sp>
        <p:nvSpPr>
          <p:cNvPr id="37" name="Text 31"/>
          <p:cNvSpPr/>
          <p:nvPr/>
        </p:nvSpPr>
        <p:spPr>
          <a:xfrm>
            <a:off x="7114032" y="3703320"/>
            <a:ext cx="1554480" cy="5486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AI / ML</a:t>
            </a:r>
            <a:endParaRPr lang="en-US" sz="1300" dirty="0"/>
          </a:p>
        </p:txBody>
      </p:sp>
      <p:sp>
        <p:nvSpPr>
          <p:cNvPr id="38" name="Text 32"/>
          <p:cNvSpPr/>
          <p:nvPr/>
        </p:nvSpPr>
        <p:spPr>
          <a:xfrm>
            <a:off x="8686800" y="3703320"/>
            <a:ext cx="288036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Scikit-learn, PyTorch, Llama, RAG</a:t>
            </a:r>
            <a:endParaRPr lang="en-US" sz="1300" dirty="0"/>
          </a:p>
        </p:txBody>
      </p:sp>
      <p:sp>
        <p:nvSpPr>
          <p:cNvPr id="39" name="Shape 33"/>
          <p:cNvSpPr/>
          <p:nvPr/>
        </p:nvSpPr>
        <p:spPr>
          <a:xfrm>
            <a:off x="6492240" y="4434840"/>
            <a:ext cx="457200" cy="457200"/>
          </a:xfrm>
          <a:prstGeom prst="ellipse">
            <a:avLst/>
          </a:prstGeom>
          <a:solidFill>
            <a:srgbClr val="02C39A"/>
          </a:solidFill>
          <a:ln/>
        </p:spPr>
      </p:sp>
      <p:pic>
        <p:nvPicPr>
          <p:cNvPr id="40" name="Image 4" descr="icons/ocr.png">    </p:cNvPr>
          <p:cNvPicPr>
            <a:picLocks noChangeAspect="1"/>
          </p:cNvPicPr>
          <p:nvPr/>
        </p:nvPicPr>
        <p:blipFill>
          <a:blip r:embed="rId5"/>
          <a:stretch>
            <a:fillRect/>
          </a:stretch>
        </p:blipFill>
        <p:spPr>
          <a:xfrm>
            <a:off x="6601968" y="4544568"/>
            <a:ext cx="237744" cy="237744"/>
          </a:xfrm>
          <a:prstGeom prst="rect">
            <a:avLst/>
          </a:prstGeom>
        </p:spPr>
      </p:pic>
      <p:sp>
        <p:nvSpPr>
          <p:cNvPr id="41" name="Text 34"/>
          <p:cNvSpPr/>
          <p:nvPr/>
        </p:nvSpPr>
        <p:spPr>
          <a:xfrm>
            <a:off x="7114032" y="4389120"/>
            <a:ext cx="1554480" cy="5486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OCR</a:t>
            </a:r>
            <a:endParaRPr lang="en-US" sz="1300" dirty="0"/>
          </a:p>
        </p:txBody>
      </p:sp>
      <p:sp>
        <p:nvSpPr>
          <p:cNvPr id="42" name="Text 35"/>
          <p:cNvSpPr/>
          <p:nvPr/>
        </p:nvSpPr>
        <p:spPr>
          <a:xfrm>
            <a:off x="8686800" y="4389120"/>
            <a:ext cx="288036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PaddleOCR</a:t>
            </a:r>
            <a:endParaRPr lang="en-US" sz="1300" dirty="0"/>
          </a:p>
        </p:txBody>
      </p:sp>
      <p:sp>
        <p:nvSpPr>
          <p:cNvPr id="43" name="Shape 36"/>
          <p:cNvSpPr/>
          <p:nvPr/>
        </p:nvSpPr>
        <p:spPr>
          <a:xfrm>
            <a:off x="6492240" y="5120640"/>
            <a:ext cx="457200" cy="457200"/>
          </a:xfrm>
          <a:prstGeom prst="ellipse">
            <a:avLst/>
          </a:prstGeom>
          <a:solidFill>
            <a:srgbClr val="02C39A"/>
          </a:solidFill>
          <a:ln/>
        </p:spPr>
      </p:sp>
      <p:pic>
        <p:nvPicPr>
          <p:cNvPr id="44" name="Image 5" descr="icons/docker.png">    </p:cNvPr>
          <p:cNvPicPr>
            <a:picLocks noChangeAspect="1"/>
          </p:cNvPicPr>
          <p:nvPr/>
        </p:nvPicPr>
        <p:blipFill>
          <a:blip r:embed="rId6"/>
          <a:stretch>
            <a:fillRect/>
          </a:stretch>
        </p:blipFill>
        <p:spPr>
          <a:xfrm>
            <a:off x="6601968" y="5230368"/>
            <a:ext cx="237744" cy="237744"/>
          </a:xfrm>
          <a:prstGeom prst="rect">
            <a:avLst/>
          </a:prstGeom>
        </p:spPr>
      </p:pic>
      <p:sp>
        <p:nvSpPr>
          <p:cNvPr id="45" name="Text 37"/>
          <p:cNvSpPr/>
          <p:nvPr/>
        </p:nvSpPr>
        <p:spPr>
          <a:xfrm>
            <a:off x="7114032" y="5074920"/>
            <a:ext cx="1554480" cy="548640"/>
          </a:xfrm>
          <a:prstGeom prst="rect">
            <a:avLst/>
          </a:prstGeom>
          <a:noFill/>
          <a:ln/>
        </p:spPr>
        <p:txBody>
          <a:bodyPr wrap="square"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Deployment</a:t>
            </a:r>
            <a:endParaRPr lang="en-US" sz="1300" dirty="0"/>
          </a:p>
        </p:txBody>
      </p:sp>
      <p:sp>
        <p:nvSpPr>
          <p:cNvPr id="46" name="Text 38"/>
          <p:cNvSpPr/>
          <p:nvPr/>
        </p:nvSpPr>
        <p:spPr>
          <a:xfrm>
            <a:off x="8686800" y="5074920"/>
            <a:ext cx="2880360" cy="5486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Docker</a:t>
            </a:r>
            <a:endParaRPr lang="en-US" sz="1300" dirty="0"/>
          </a:p>
        </p:txBody>
      </p:sp>
      <p:sp>
        <p:nvSpPr>
          <p:cNvPr id="47" name="Text 39"/>
          <p:cNvSpPr/>
          <p:nvPr/>
        </p:nvSpPr>
        <p:spPr>
          <a:xfrm>
            <a:off x="457200" y="6492240"/>
            <a:ext cx="548640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VendorAI  |  Features &amp; Technologies</a:t>
            </a:r>
            <a:endParaRPr lang="en-US" sz="1000" dirty="0"/>
          </a:p>
        </p:txBody>
      </p:sp>
      <p:sp>
        <p:nvSpPr>
          <p:cNvPr id="48" name="Text 40"/>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320040"/>
            <a:ext cx="9144000" cy="45720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Output &amp; Expected Impact</a:t>
            </a:r>
            <a:endParaRPr lang="en-US" sz="2800" dirty="0"/>
          </a:p>
        </p:txBody>
      </p:sp>
      <p:sp>
        <p:nvSpPr>
          <p:cNvPr id="3" name="Text 1"/>
          <p:cNvSpPr/>
          <p:nvPr/>
        </p:nvSpPr>
        <p:spPr>
          <a:xfrm>
            <a:off x="457200" y="914400"/>
            <a:ext cx="548640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Outputs Generated</a:t>
            </a:r>
            <a:endParaRPr lang="en-US" sz="1600" dirty="0"/>
          </a:p>
        </p:txBody>
      </p:sp>
      <p:sp>
        <p:nvSpPr>
          <p:cNvPr id="4" name="Shape 2"/>
          <p:cNvSpPr/>
          <p:nvPr/>
        </p:nvSpPr>
        <p:spPr>
          <a:xfrm>
            <a:off x="457200" y="1353312"/>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5" name="Shape 3"/>
          <p:cNvSpPr/>
          <p:nvPr/>
        </p:nvSpPr>
        <p:spPr>
          <a:xfrm>
            <a:off x="621792" y="1517904"/>
            <a:ext cx="457200" cy="457200"/>
          </a:xfrm>
          <a:prstGeom prst="ellipse">
            <a:avLst/>
          </a:prstGeom>
          <a:solidFill>
            <a:srgbClr val="02C39A"/>
          </a:solidFill>
          <a:ln/>
        </p:spPr>
      </p:sp>
      <p:pic>
        <p:nvPicPr>
          <p:cNvPr id="6" name="Image 0" descr="icons/gstreport.png">    </p:cNvPr>
          <p:cNvPicPr>
            <a:picLocks noChangeAspect="1"/>
          </p:cNvPicPr>
          <p:nvPr/>
        </p:nvPicPr>
        <p:blipFill>
          <a:blip r:embed="rId1"/>
          <a:stretch>
            <a:fillRect/>
          </a:stretch>
        </p:blipFill>
        <p:spPr>
          <a:xfrm>
            <a:off x="731520" y="1627632"/>
            <a:ext cx="237744" cy="237744"/>
          </a:xfrm>
          <a:prstGeom prst="rect">
            <a:avLst/>
          </a:prstGeom>
        </p:spPr>
      </p:pic>
      <p:sp>
        <p:nvSpPr>
          <p:cNvPr id="7" name="Text 4"/>
          <p:cNvSpPr/>
          <p:nvPr/>
        </p:nvSpPr>
        <p:spPr>
          <a:xfrm>
            <a:off x="621792" y="2066544"/>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GST Reports</a:t>
            </a:r>
            <a:endParaRPr lang="en-US" sz="1200" dirty="0"/>
          </a:p>
        </p:txBody>
      </p:sp>
      <p:sp>
        <p:nvSpPr>
          <p:cNvPr id="8" name="Shape 5"/>
          <p:cNvSpPr/>
          <p:nvPr/>
        </p:nvSpPr>
        <p:spPr>
          <a:xfrm>
            <a:off x="3227832" y="1353312"/>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9" name="Shape 6"/>
          <p:cNvSpPr/>
          <p:nvPr/>
        </p:nvSpPr>
        <p:spPr>
          <a:xfrm>
            <a:off x="3392424" y="1517904"/>
            <a:ext cx="457200" cy="457200"/>
          </a:xfrm>
          <a:prstGeom prst="ellipse">
            <a:avLst/>
          </a:prstGeom>
          <a:solidFill>
            <a:srgbClr val="02C39A"/>
          </a:solidFill>
          <a:ln/>
        </p:spPr>
      </p:sp>
      <p:pic>
        <p:nvPicPr>
          <p:cNvPr id="10" name="Image 1" descr="icons/itc.png">    </p:cNvPr>
          <p:cNvPicPr>
            <a:picLocks noChangeAspect="1"/>
          </p:cNvPicPr>
          <p:nvPr/>
        </p:nvPicPr>
        <p:blipFill>
          <a:blip r:embed="rId2"/>
          <a:stretch>
            <a:fillRect/>
          </a:stretch>
        </p:blipFill>
        <p:spPr>
          <a:xfrm>
            <a:off x="3502152" y="1627632"/>
            <a:ext cx="237744" cy="237744"/>
          </a:xfrm>
          <a:prstGeom prst="rect">
            <a:avLst/>
          </a:prstGeom>
        </p:spPr>
      </p:pic>
      <p:sp>
        <p:nvSpPr>
          <p:cNvPr id="11" name="Text 7"/>
          <p:cNvSpPr/>
          <p:nvPr/>
        </p:nvSpPr>
        <p:spPr>
          <a:xfrm>
            <a:off x="3392424" y="2066544"/>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ITC Summary</a:t>
            </a:r>
            <a:endParaRPr lang="en-US" sz="1200" dirty="0"/>
          </a:p>
        </p:txBody>
      </p:sp>
      <p:sp>
        <p:nvSpPr>
          <p:cNvPr id="12" name="Shape 8"/>
          <p:cNvSpPr/>
          <p:nvPr/>
        </p:nvSpPr>
        <p:spPr>
          <a:xfrm>
            <a:off x="457200" y="2752344"/>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13" name="Shape 9"/>
          <p:cNvSpPr/>
          <p:nvPr/>
        </p:nvSpPr>
        <p:spPr>
          <a:xfrm>
            <a:off x="621792" y="2916936"/>
            <a:ext cx="457200" cy="457200"/>
          </a:xfrm>
          <a:prstGeom prst="ellipse">
            <a:avLst/>
          </a:prstGeom>
          <a:solidFill>
            <a:srgbClr val="02C39A"/>
          </a:solidFill>
          <a:ln/>
        </p:spPr>
      </p:sp>
      <p:pic>
        <p:nvPicPr>
          <p:cNvPr id="14" name="Image 2" descr="icons/insights.png">    </p:cNvPr>
          <p:cNvPicPr>
            <a:picLocks noChangeAspect="1"/>
          </p:cNvPicPr>
          <p:nvPr/>
        </p:nvPicPr>
        <p:blipFill>
          <a:blip r:embed="rId3"/>
          <a:stretch>
            <a:fillRect/>
          </a:stretch>
        </p:blipFill>
        <p:spPr>
          <a:xfrm>
            <a:off x="731520" y="3026664"/>
            <a:ext cx="237744" cy="237744"/>
          </a:xfrm>
          <a:prstGeom prst="rect">
            <a:avLst/>
          </a:prstGeom>
        </p:spPr>
      </p:pic>
      <p:sp>
        <p:nvSpPr>
          <p:cNvPr id="15" name="Text 10"/>
          <p:cNvSpPr/>
          <p:nvPr/>
        </p:nvSpPr>
        <p:spPr>
          <a:xfrm>
            <a:off x="621792" y="3465576"/>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Business Dashboard</a:t>
            </a:r>
            <a:endParaRPr lang="en-US" sz="1200" dirty="0"/>
          </a:p>
        </p:txBody>
      </p:sp>
      <p:sp>
        <p:nvSpPr>
          <p:cNvPr id="16" name="Shape 11"/>
          <p:cNvSpPr/>
          <p:nvPr/>
        </p:nvSpPr>
        <p:spPr>
          <a:xfrm>
            <a:off x="3227832" y="2752344"/>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17" name="Shape 12"/>
          <p:cNvSpPr/>
          <p:nvPr/>
        </p:nvSpPr>
        <p:spPr>
          <a:xfrm>
            <a:off x="3392424" y="2916936"/>
            <a:ext cx="457200" cy="457200"/>
          </a:xfrm>
          <a:prstGeom prst="ellipse">
            <a:avLst/>
          </a:prstGeom>
          <a:solidFill>
            <a:srgbClr val="02C39A"/>
          </a:solidFill>
          <a:ln/>
        </p:spPr>
      </p:sp>
      <p:pic>
        <p:nvPicPr>
          <p:cNvPr id="18" name="Image 3" descr="icons/cashflow.png">    </p:cNvPr>
          <p:cNvPicPr>
            <a:picLocks noChangeAspect="1"/>
          </p:cNvPicPr>
          <p:nvPr/>
        </p:nvPicPr>
        <p:blipFill>
          <a:blip r:embed="rId4"/>
          <a:stretch>
            <a:fillRect/>
          </a:stretch>
        </p:blipFill>
        <p:spPr>
          <a:xfrm>
            <a:off x="3502152" y="3026664"/>
            <a:ext cx="237744" cy="237744"/>
          </a:xfrm>
          <a:prstGeom prst="rect">
            <a:avLst/>
          </a:prstGeom>
        </p:spPr>
      </p:pic>
      <p:sp>
        <p:nvSpPr>
          <p:cNvPr id="19" name="Text 13"/>
          <p:cNvSpPr/>
          <p:nvPr/>
        </p:nvSpPr>
        <p:spPr>
          <a:xfrm>
            <a:off x="3392424" y="3465576"/>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Cash Flow Prediction</a:t>
            </a:r>
            <a:endParaRPr lang="en-US" sz="1200" dirty="0"/>
          </a:p>
        </p:txBody>
      </p:sp>
      <p:sp>
        <p:nvSpPr>
          <p:cNvPr id="20" name="Shape 14"/>
          <p:cNvSpPr/>
          <p:nvPr/>
        </p:nvSpPr>
        <p:spPr>
          <a:xfrm>
            <a:off x="457200" y="4151376"/>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21" name="Shape 15"/>
          <p:cNvSpPr/>
          <p:nvPr/>
        </p:nvSpPr>
        <p:spPr>
          <a:xfrm>
            <a:off x="621792" y="4315968"/>
            <a:ext cx="457200" cy="457200"/>
          </a:xfrm>
          <a:prstGeom prst="ellipse">
            <a:avLst/>
          </a:prstGeom>
          <a:solidFill>
            <a:srgbClr val="02C39A"/>
          </a:solidFill>
          <a:ln/>
        </p:spPr>
      </p:sp>
      <p:pic>
        <p:nvPicPr>
          <p:cNvPr id="22" name="Image 4" descr="icons/inventory.png">    </p:cNvPr>
          <p:cNvPicPr>
            <a:picLocks noChangeAspect="1"/>
          </p:cNvPicPr>
          <p:nvPr/>
        </p:nvPicPr>
        <p:blipFill>
          <a:blip r:embed="rId5"/>
          <a:stretch>
            <a:fillRect/>
          </a:stretch>
        </p:blipFill>
        <p:spPr>
          <a:xfrm>
            <a:off x="731520" y="4425696"/>
            <a:ext cx="237744" cy="237744"/>
          </a:xfrm>
          <a:prstGeom prst="rect">
            <a:avLst/>
          </a:prstGeom>
        </p:spPr>
      </p:pic>
      <p:sp>
        <p:nvSpPr>
          <p:cNvPr id="23" name="Text 16"/>
          <p:cNvSpPr/>
          <p:nvPr/>
        </p:nvSpPr>
        <p:spPr>
          <a:xfrm>
            <a:off x="621792" y="4864608"/>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Inventory Alerts</a:t>
            </a:r>
            <a:endParaRPr lang="en-US" sz="1200" dirty="0"/>
          </a:p>
        </p:txBody>
      </p:sp>
      <p:sp>
        <p:nvSpPr>
          <p:cNvPr id="24" name="Shape 17"/>
          <p:cNvSpPr/>
          <p:nvPr/>
        </p:nvSpPr>
        <p:spPr>
          <a:xfrm>
            <a:off x="3227832" y="4151376"/>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25" name="Shape 18"/>
          <p:cNvSpPr/>
          <p:nvPr/>
        </p:nvSpPr>
        <p:spPr>
          <a:xfrm>
            <a:off x="3392424" y="4315968"/>
            <a:ext cx="457200" cy="457200"/>
          </a:xfrm>
          <a:prstGeom prst="ellipse">
            <a:avLst/>
          </a:prstGeom>
          <a:solidFill>
            <a:srgbClr val="02C39A"/>
          </a:solidFill>
          <a:ln/>
        </p:spPr>
      </p:sp>
      <p:pic>
        <p:nvPicPr>
          <p:cNvPr id="26" name="Image 5" descr="icons/fraudalert.png">    </p:cNvPr>
          <p:cNvPicPr>
            <a:picLocks noChangeAspect="1"/>
          </p:cNvPicPr>
          <p:nvPr/>
        </p:nvPicPr>
        <p:blipFill>
          <a:blip r:embed="rId6"/>
          <a:stretch>
            <a:fillRect/>
          </a:stretch>
        </p:blipFill>
        <p:spPr>
          <a:xfrm>
            <a:off x="3502152" y="4425696"/>
            <a:ext cx="237744" cy="237744"/>
          </a:xfrm>
          <a:prstGeom prst="rect">
            <a:avLst/>
          </a:prstGeom>
        </p:spPr>
      </p:pic>
      <p:sp>
        <p:nvSpPr>
          <p:cNvPr id="27" name="Text 19"/>
          <p:cNvSpPr/>
          <p:nvPr/>
        </p:nvSpPr>
        <p:spPr>
          <a:xfrm>
            <a:off x="3392424" y="4864608"/>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Fraud Alerts</a:t>
            </a:r>
            <a:endParaRPr lang="en-US" sz="1200" dirty="0"/>
          </a:p>
        </p:txBody>
      </p:sp>
      <p:sp>
        <p:nvSpPr>
          <p:cNvPr id="28" name="Shape 20"/>
          <p:cNvSpPr/>
          <p:nvPr/>
        </p:nvSpPr>
        <p:spPr>
          <a:xfrm>
            <a:off x="457200" y="5550408"/>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29" name="Shape 21"/>
          <p:cNvSpPr/>
          <p:nvPr/>
        </p:nvSpPr>
        <p:spPr>
          <a:xfrm>
            <a:off x="621792" y="5715000"/>
            <a:ext cx="457200" cy="457200"/>
          </a:xfrm>
          <a:prstGeom prst="ellipse">
            <a:avLst/>
          </a:prstGeom>
          <a:solidFill>
            <a:srgbClr val="02C39A"/>
          </a:solidFill>
          <a:ln/>
        </p:spPr>
      </p:sp>
      <p:pic>
        <p:nvPicPr>
          <p:cNvPr id="30" name="Image 6" descr="icons/airecs.png">    </p:cNvPr>
          <p:cNvPicPr>
            <a:picLocks noChangeAspect="1"/>
          </p:cNvPicPr>
          <p:nvPr/>
        </p:nvPicPr>
        <p:blipFill>
          <a:blip r:embed="rId7"/>
          <a:stretch>
            <a:fillRect/>
          </a:stretch>
        </p:blipFill>
        <p:spPr>
          <a:xfrm>
            <a:off x="731520" y="5824728"/>
            <a:ext cx="237744" cy="237744"/>
          </a:xfrm>
          <a:prstGeom prst="rect">
            <a:avLst/>
          </a:prstGeom>
        </p:spPr>
      </p:pic>
      <p:sp>
        <p:nvSpPr>
          <p:cNvPr id="31" name="Text 22"/>
          <p:cNvSpPr/>
          <p:nvPr/>
        </p:nvSpPr>
        <p:spPr>
          <a:xfrm>
            <a:off x="621792" y="6263640"/>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AI Recommendations</a:t>
            </a:r>
            <a:endParaRPr lang="en-US" sz="1200" dirty="0"/>
          </a:p>
        </p:txBody>
      </p:sp>
      <p:sp>
        <p:nvSpPr>
          <p:cNvPr id="32" name="Shape 23"/>
          <p:cNvSpPr/>
          <p:nvPr/>
        </p:nvSpPr>
        <p:spPr>
          <a:xfrm>
            <a:off x="3227832" y="5550408"/>
            <a:ext cx="2606040" cy="1234440"/>
          </a:xfrm>
          <a:prstGeom prst="rect">
            <a:avLst>
              <a:gd name="adj" fmla="val 5185"/>
            </a:avLst>
          </a:prstGeom>
          <a:solidFill>
            <a:srgbClr val="FFFFFF"/>
          </a:solidFill>
          <a:ln/>
          <a:effectLst>
            <a:outerShdw sx="100000" sy="100000" kx="0" ky="0" algn="bl" rotWithShape="0" blurRad="101600" dist="38100" dir="5400000">
              <a:srgbClr val="1E2761">
                <a:alpha val="18000"/>
              </a:srgbClr>
            </a:outerShdw>
          </a:effectLst>
        </p:spPr>
      </p:sp>
      <p:sp>
        <p:nvSpPr>
          <p:cNvPr id="33" name="Shape 24"/>
          <p:cNvSpPr/>
          <p:nvPr/>
        </p:nvSpPr>
        <p:spPr>
          <a:xfrm>
            <a:off x="3392424" y="5715000"/>
            <a:ext cx="457200" cy="457200"/>
          </a:xfrm>
          <a:prstGeom prst="ellipse">
            <a:avLst/>
          </a:prstGeom>
          <a:solidFill>
            <a:srgbClr val="02C39A"/>
          </a:solidFill>
          <a:ln/>
        </p:spPr>
      </p:sp>
      <p:pic>
        <p:nvPicPr>
          <p:cNvPr id="34" name="Image 7" descr="icons/copilot.png">    </p:cNvPr>
          <p:cNvPicPr>
            <a:picLocks noChangeAspect="1"/>
          </p:cNvPicPr>
          <p:nvPr/>
        </p:nvPicPr>
        <p:blipFill>
          <a:blip r:embed="rId8"/>
          <a:stretch>
            <a:fillRect/>
          </a:stretch>
        </p:blipFill>
        <p:spPr>
          <a:xfrm>
            <a:off x="3502152" y="5824728"/>
            <a:ext cx="237744" cy="237744"/>
          </a:xfrm>
          <a:prstGeom prst="rect">
            <a:avLst/>
          </a:prstGeom>
        </p:spPr>
      </p:pic>
      <p:sp>
        <p:nvSpPr>
          <p:cNvPr id="35" name="Text 25"/>
          <p:cNvSpPr/>
          <p:nvPr/>
        </p:nvSpPr>
        <p:spPr>
          <a:xfrm>
            <a:off x="3392424" y="6263640"/>
            <a:ext cx="2286000" cy="457200"/>
          </a:xfrm>
          <a:prstGeom prst="rect">
            <a:avLst/>
          </a:prstGeom>
          <a:noFill/>
          <a:ln/>
        </p:spPr>
        <p:txBody>
          <a:bodyPr wrap="square" rtlCol="0" anchor="t"/>
          <a:lstStyle/>
          <a:p>
            <a:pPr indent="0" marL="0">
              <a:buNone/>
            </a:pPr>
            <a:r>
              <a:rPr lang="en-US" sz="1200" b="1" dirty="0">
                <a:solidFill>
                  <a:srgbClr val="141B47"/>
                </a:solidFill>
                <a:latin typeface="Calibri" pitchFamily="34" charset="0"/>
                <a:ea typeface="Calibri" pitchFamily="34" charset="-122"/>
                <a:cs typeface="Calibri" pitchFamily="34" charset="-120"/>
              </a:rPr>
              <a:t>GST Chat Assistant</a:t>
            </a:r>
            <a:endParaRPr lang="en-US" sz="1200" dirty="0"/>
          </a:p>
        </p:txBody>
      </p:sp>
      <p:sp>
        <p:nvSpPr>
          <p:cNvPr id="36" name="Text 26"/>
          <p:cNvSpPr/>
          <p:nvPr/>
        </p:nvSpPr>
        <p:spPr>
          <a:xfrm>
            <a:off x="6355080" y="914400"/>
            <a:ext cx="548640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Expected Benefits</a:t>
            </a:r>
            <a:endParaRPr lang="en-US" sz="1600" dirty="0"/>
          </a:p>
        </p:txBody>
      </p:sp>
      <p:sp>
        <p:nvSpPr>
          <p:cNvPr id="37" name="Shape 27"/>
          <p:cNvSpPr/>
          <p:nvPr/>
        </p:nvSpPr>
        <p:spPr>
          <a:xfrm>
            <a:off x="6355080" y="1353312"/>
            <a:ext cx="5394960" cy="658368"/>
          </a:xfrm>
          <a:prstGeom prst="rect">
            <a:avLst/>
          </a:prstGeom>
          <a:solidFill>
            <a:srgbClr val="FFFFFF"/>
          </a:solidFill>
          <a:ln/>
        </p:spPr>
      </p:sp>
      <p:sp>
        <p:nvSpPr>
          <p:cNvPr id="38" name="Text 28"/>
          <p:cNvSpPr/>
          <p:nvPr/>
        </p:nvSpPr>
        <p:spPr>
          <a:xfrm>
            <a:off x="6583680" y="1353312"/>
            <a:ext cx="3291840" cy="658368"/>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Manual Work</a:t>
            </a:r>
            <a:endParaRPr lang="en-US" sz="1350" dirty="0"/>
          </a:p>
        </p:txBody>
      </p:sp>
      <p:sp>
        <p:nvSpPr>
          <p:cNvPr id="39" name="Text 29"/>
          <p:cNvSpPr/>
          <p:nvPr/>
        </p:nvSpPr>
        <p:spPr>
          <a:xfrm>
            <a:off x="9875520" y="1353312"/>
            <a:ext cx="1737360" cy="658368"/>
          </a:xfrm>
          <a:prstGeom prst="rect">
            <a:avLst/>
          </a:prstGeom>
          <a:noFill/>
          <a:ln/>
        </p:spPr>
        <p:txBody>
          <a:bodyPr wrap="square"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 80%</a:t>
            </a:r>
            <a:endParaRPr lang="en-US" sz="1400" dirty="0"/>
          </a:p>
        </p:txBody>
      </p:sp>
      <p:sp>
        <p:nvSpPr>
          <p:cNvPr id="40" name="Shape 30"/>
          <p:cNvSpPr/>
          <p:nvPr/>
        </p:nvSpPr>
        <p:spPr>
          <a:xfrm>
            <a:off x="6355080" y="2011680"/>
            <a:ext cx="5394960" cy="658368"/>
          </a:xfrm>
          <a:prstGeom prst="rect">
            <a:avLst/>
          </a:prstGeom>
          <a:solidFill>
            <a:srgbClr val="E9EEF9"/>
          </a:solidFill>
          <a:ln/>
        </p:spPr>
      </p:sp>
      <p:sp>
        <p:nvSpPr>
          <p:cNvPr id="41" name="Text 31"/>
          <p:cNvSpPr/>
          <p:nvPr/>
        </p:nvSpPr>
        <p:spPr>
          <a:xfrm>
            <a:off x="6583680" y="2011680"/>
            <a:ext cx="3291840" cy="658368"/>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Invoice Processing Time</a:t>
            </a:r>
            <a:endParaRPr lang="en-US" sz="1350" dirty="0"/>
          </a:p>
        </p:txBody>
      </p:sp>
      <p:sp>
        <p:nvSpPr>
          <p:cNvPr id="42" name="Text 32"/>
          <p:cNvSpPr/>
          <p:nvPr/>
        </p:nvSpPr>
        <p:spPr>
          <a:xfrm>
            <a:off x="9875520" y="2011680"/>
            <a:ext cx="1737360" cy="658368"/>
          </a:xfrm>
          <a:prstGeom prst="rect">
            <a:avLst/>
          </a:prstGeom>
          <a:noFill/>
          <a:ln/>
        </p:spPr>
        <p:txBody>
          <a:bodyPr wrap="square"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 70%</a:t>
            </a:r>
            <a:endParaRPr lang="en-US" sz="1400" dirty="0"/>
          </a:p>
        </p:txBody>
      </p:sp>
      <p:sp>
        <p:nvSpPr>
          <p:cNvPr id="43" name="Shape 33"/>
          <p:cNvSpPr/>
          <p:nvPr/>
        </p:nvSpPr>
        <p:spPr>
          <a:xfrm>
            <a:off x="6355080" y="2670048"/>
            <a:ext cx="5394960" cy="658368"/>
          </a:xfrm>
          <a:prstGeom prst="rect">
            <a:avLst/>
          </a:prstGeom>
          <a:solidFill>
            <a:srgbClr val="FFFFFF"/>
          </a:solidFill>
          <a:ln/>
        </p:spPr>
      </p:sp>
      <p:sp>
        <p:nvSpPr>
          <p:cNvPr id="44" name="Text 34"/>
          <p:cNvSpPr/>
          <p:nvPr/>
        </p:nvSpPr>
        <p:spPr>
          <a:xfrm>
            <a:off x="6583680" y="2670048"/>
            <a:ext cx="3291840" cy="658368"/>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GST Filing Errors</a:t>
            </a:r>
            <a:endParaRPr lang="en-US" sz="1350" dirty="0"/>
          </a:p>
        </p:txBody>
      </p:sp>
      <p:sp>
        <p:nvSpPr>
          <p:cNvPr id="45" name="Text 35"/>
          <p:cNvSpPr/>
          <p:nvPr/>
        </p:nvSpPr>
        <p:spPr>
          <a:xfrm>
            <a:off x="9875520" y="2670048"/>
            <a:ext cx="1737360" cy="658368"/>
          </a:xfrm>
          <a:prstGeom prst="rect">
            <a:avLst/>
          </a:prstGeom>
          <a:noFill/>
          <a:ln/>
        </p:spPr>
        <p:txBody>
          <a:bodyPr wrap="square"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 Significant</a:t>
            </a:r>
            <a:endParaRPr lang="en-US" sz="1400" dirty="0"/>
          </a:p>
        </p:txBody>
      </p:sp>
      <p:sp>
        <p:nvSpPr>
          <p:cNvPr id="46" name="Shape 36"/>
          <p:cNvSpPr/>
          <p:nvPr/>
        </p:nvSpPr>
        <p:spPr>
          <a:xfrm>
            <a:off x="6355080" y="3328416"/>
            <a:ext cx="5394960" cy="658368"/>
          </a:xfrm>
          <a:prstGeom prst="rect">
            <a:avLst/>
          </a:prstGeom>
          <a:solidFill>
            <a:srgbClr val="E9EEF9"/>
          </a:solidFill>
          <a:ln/>
        </p:spPr>
      </p:sp>
      <p:sp>
        <p:nvSpPr>
          <p:cNvPr id="47" name="Text 37"/>
          <p:cNvSpPr/>
          <p:nvPr/>
        </p:nvSpPr>
        <p:spPr>
          <a:xfrm>
            <a:off x="6583680" y="3328416"/>
            <a:ext cx="3291840" cy="658368"/>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Tax Savings</a:t>
            </a:r>
            <a:endParaRPr lang="en-US" sz="1350" dirty="0"/>
          </a:p>
        </p:txBody>
      </p:sp>
      <p:sp>
        <p:nvSpPr>
          <p:cNvPr id="48" name="Text 38"/>
          <p:cNvSpPr/>
          <p:nvPr/>
        </p:nvSpPr>
        <p:spPr>
          <a:xfrm>
            <a:off x="9875520" y="3328416"/>
            <a:ext cx="1737360" cy="658368"/>
          </a:xfrm>
          <a:prstGeom prst="rect">
            <a:avLst/>
          </a:prstGeom>
          <a:noFill/>
          <a:ln/>
        </p:spPr>
        <p:txBody>
          <a:bodyPr wrap="square"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 ITC Utilization</a:t>
            </a:r>
            <a:endParaRPr lang="en-US" sz="1400" dirty="0"/>
          </a:p>
        </p:txBody>
      </p:sp>
      <p:sp>
        <p:nvSpPr>
          <p:cNvPr id="49" name="Shape 39"/>
          <p:cNvSpPr/>
          <p:nvPr/>
        </p:nvSpPr>
        <p:spPr>
          <a:xfrm>
            <a:off x="6355080" y="3986784"/>
            <a:ext cx="5394960" cy="658368"/>
          </a:xfrm>
          <a:prstGeom prst="rect">
            <a:avLst/>
          </a:prstGeom>
          <a:solidFill>
            <a:srgbClr val="FFFFFF"/>
          </a:solidFill>
          <a:ln/>
        </p:spPr>
      </p:sp>
      <p:sp>
        <p:nvSpPr>
          <p:cNvPr id="50" name="Text 40"/>
          <p:cNvSpPr/>
          <p:nvPr/>
        </p:nvSpPr>
        <p:spPr>
          <a:xfrm>
            <a:off x="6583680" y="3986784"/>
            <a:ext cx="3291840" cy="658368"/>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Business Insights</a:t>
            </a:r>
            <a:endParaRPr lang="en-US" sz="1350" dirty="0"/>
          </a:p>
        </p:txBody>
      </p:sp>
      <p:sp>
        <p:nvSpPr>
          <p:cNvPr id="51" name="Text 41"/>
          <p:cNvSpPr/>
          <p:nvPr/>
        </p:nvSpPr>
        <p:spPr>
          <a:xfrm>
            <a:off x="9875520" y="3986784"/>
            <a:ext cx="1737360" cy="658368"/>
          </a:xfrm>
          <a:prstGeom prst="rect">
            <a:avLst/>
          </a:prstGeom>
          <a:noFill/>
          <a:ln/>
        </p:spPr>
        <p:txBody>
          <a:bodyPr wrap="square"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Real-Time</a:t>
            </a:r>
            <a:endParaRPr lang="en-US" sz="1400" dirty="0"/>
          </a:p>
        </p:txBody>
      </p:sp>
      <p:sp>
        <p:nvSpPr>
          <p:cNvPr id="52" name="Shape 42"/>
          <p:cNvSpPr/>
          <p:nvPr/>
        </p:nvSpPr>
        <p:spPr>
          <a:xfrm>
            <a:off x="6355080" y="4645152"/>
            <a:ext cx="5394960" cy="658368"/>
          </a:xfrm>
          <a:prstGeom prst="rect">
            <a:avLst/>
          </a:prstGeom>
          <a:solidFill>
            <a:srgbClr val="E9EEF9"/>
          </a:solidFill>
          <a:ln/>
        </p:spPr>
      </p:sp>
      <p:sp>
        <p:nvSpPr>
          <p:cNvPr id="53" name="Text 43"/>
          <p:cNvSpPr/>
          <p:nvPr/>
        </p:nvSpPr>
        <p:spPr>
          <a:xfrm>
            <a:off x="6583680" y="4645152"/>
            <a:ext cx="3291840" cy="658368"/>
          </a:xfrm>
          <a:prstGeom prst="rect">
            <a:avLst/>
          </a:prstGeom>
          <a:noFill/>
          <a:ln/>
        </p:spPr>
        <p:txBody>
          <a:bodyPr wrap="square" rtlCol="0" anchor="ctr"/>
          <a:lstStyle/>
          <a:p>
            <a:pPr indent="0" marL="0">
              <a:buNone/>
            </a:pPr>
            <a:r>
              <a:rPr lang="en-US" sz="1350" dirty="0">
                <a:solidFill>
                  <a:srgbClr val="141B47"/>
                </a:solidFill>
                <a:latin typeface="Calibri" pitchFamily="34" charset="0"/>
                <a:ea typeface="Calibri" pitchFamily="34" charset="-122"/>
                <a:cs typeface="Calibri" pitchFamily="34" charset="-120"/>
              </a:rPr>
              <a:t>Compliance</a:t>
            </a:r>
            <a:endParaRPr lang="en-US" sz="1350" dirty="0"/>
          </a:p>
        </p:txBody>
      </p:sp>
      <p:sp>
        <p:nvSpPr>
          <p:cNvPr id="54" name="Text 44"/>
          <p:cNvSpPr/>
          <p:nvPr/>
        </p:nvSpPr>
        <p:spPr>
          <a:xfrm>
            <a:off x="9875520" y="4645152"/>
            <a:ext cx="1737360" cy="658368"/>
          </a:xfrm>
          <a:prstGeom prst="rect">
            <a:avLst/>
          </a:prstGeom>
          <a:noFill/>
          <a:ln/>
        </p:spPr>
        <p:txBody>
          <a:bodyPr wrap="square" rtlCol="0" anchor="ctr"/>
          <a:lstStyle/>
          <a:p>
            <a:pPr algn="r" indent="0" marL="0">
              <a:buNone/>
            </a:pPr>
            <a:r>
              <a:rPr lang="en-US" sz="1400" b="1" dirty="0">
                <a:solidFill>
                  <a:srgbClr val="1E2761"/>
                </a:solidFill>
                <a:latin typeface="Calibri" pitchFamily="34" charset="0"/>
                <a:ea typeface="Calibri" pitchFamily="34" charset="-122"/>
                <a:cs typeface="Calibri" pitchFamily="34" charset="-120"/>
              </a:rPr>
              <a:t>Automated</a:t>
            </a:r>
            <a:endParaRPr lang="en-US" sz="1400" dirty="0"/>
          </a:p>
        </p:txBody>
      </p:sp>
      <p:sp>
        <p:nvSpPr>
          <p:cNvPr id="55" name="Shape 45"/>
          <p:cNvSpPr/>
          <p:nvPr/>
        </p:nvSpPr>
        <p:spPr>
          <a:xfrm>
            <a:off x="6355080" y="1353312"/>
            <a:ext cx="5394960" cy="3950208"/>
          </a:xfrm>
          <a:prstGeom prst="rect">
            <a:avLst/>
          </a:prstGeom>
          <a:ln w="12700">
            <a:solidFill>
              <a:srgbClr val="CADCFC"/>
            </a:solidFill>
            <a:prstDash val="solid"/>
          </a:ln>
        </p:spPr>
      </p:sp>
      <p:sp>
        <p:nvSpPr>
          <p:cNvPr id="56" name="Text 46"/>
          <p:cNvSpPr/>
          <p:nvPr/>
        </p:nvSpPr>
        <p:spPr>
          <a:xfrm>
            <a:off x="457200" y="6492240"/>
            <a:ext cx="5486400" cy="274320"/>
          </a:xfrm>
          <a:prstGeom prst="rect">
            <a:avLst/>
          </a:prstGeom>
          <a:noFill/>
          <a:ln/>
        </p:spPr>
        <p:txBody>
          <a:bodyPr wrap="square" rtlCol="0" anchor="ctr"/>
          <a:lstStyle/>
          <a:p>
            <a:pPr indent="0" marL="0">
              <a:buNone/>
            </a:pPr>
            <a:r>
              <a:rPr lang="en-US" sz="1000" dirty="0">
                <a:solidFill>
                  <a:srgbClr val="5A6472"/>
                </a:solidFill>
                <a:latin typeface="Calibri" pitchFamily="34" charset="0"/>
                <a:ea typeface="Calibri" pitchFamily="34" charset="-122"/>
                <a:cs typeface="Calibri" pitchFamily="34" charset="-120"/>
              </a:rPr>
              <a:t>VendorAI  |  Output &amp; Expected Impact</a:t>
            </a:r>
            <a:endParaRPr lang="en-US" sz="1000" dirty="0"/>
          </a:p>
        </p:txBody>
      </p:sp>
      <p:sp>
        <p:nvSpPr>
          <p:cNvPr id="57" name="Text 47"/>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9144000" cy="45720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Future Scope &amp; Conclusion</a:t>
            </a:r>
            <a:endParaRPr lang="en-US" sz="2800" dirty="0"/>
          </a:p>
        </p:txBody>
      </p:sp>
      <p:sp>
        <p:nvSpPr>
          <p:cNvPr id="3" name="Text 1"/>
          <p:cNvSpPr/>
          <p:nvPr/>
        </p:nvSpPr>
        <p:spPr>
          <a:xfrm>
            <a:off x="548640" y="1005840"/>
            <a:ext cx="5303520" cy="365760"/>
          </a:xfrm>
          <a:prstGeom prst="rect">
            <a:avLst/>
          </a:prstGeom>
          <a:noFill/>
          <a:ln/>
        </p:spPr>
        <p:txBody>
          <a:bodyPr wrap="square" rtlCol="0" anchor="ctr"/>
          <a:lstStyle/>
          <a:p>
            <a:pPr indent="0" marL="0">
              <a:buNone/>
            </a:pPr>
            <a:r>
              <a:rPr lang="en-US" sz="1700" b="1" dirty="0">
                <a:solidFill>
                  <a:srgbClr val="02C39A"/>
                </a:solidFill>
                <a:latin typeface="Calibri" pitchFamily="34" charset="0"/>
                <a:ea typeface="Calibri" pitchFamily="34" charset="-122"/>
                <a:cs typeface="Calibri" pitchFamily="34" charset="-120"/>
              </a:rPr>
              <a:t>Future Enhancements</a:t>
            </a:r>
            <a:endParaRPr lang="en-US" sz="1700" dirty="0"/>
          </a:p>
        </p:txBody>
      </p:sp>
      <p:sp>
        <p:nvSpPr>
          <p:cNvPr id="4" name="Shape 2"/>
          <p:cNvSpPr/>
          <p:nvPr/>
        </p:nvSpPr>
        <p:spPr>
          <a:xfrm>
            <a:off x="594360" y="1481328"/>
            <a:ext cx="365760" cy="365760"/>
          </a:xfrm>
          <a:prstGeom prst="ellipse">
            <a:avLst/>
          </a:prstGeom>
          <a:solidFill>
            <a:srgbClr val="141B47"/>
          </a:solidFill>
          <a:ln/>
        </p:spPr>
      </p:sp>
      <p:pic>
        <p:nvPicPr>
          <p:cNvPr id="5" name="Image 0" descr="icons/lang.png">    </p:cNvPr>
          <p:cNvPicPr>
            <a:picLocks noChangeAspect="1"/>
          </p:cNvPicPr>
          <p:nvPr/>
        </p:nvPicPr>
        <p:blipFill>
          <a:blip r:embed="rId1"/>
          <a:stretch>
            <a:fillRect/>
          </a:stretch>
        </p:blipFill>
        <p:spPr>
          <a:xfrm>
            <a:off x="685800" y="1572768"/>
            <a:ext cx="182880" cy="182880"/>
          </a:xfrm>
          <a:prstGeom prst="rect">
            <a:avLst/>
          </a:prstGeom>
        </p:spPr>
      </p:pic>
      <p:sp>
        <p:nvSpPr>
          <p:cNvPr id="6" name="Text 3"/>
          <p:cNvSpPr/>
          <p:nvPr/>
        </p:nvSpPr>
        <p:spPr>
          <a:xfrm>
            <a:off x="1097280" y="1426464"/>
            <a:ext cx="484632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Multi-language Support</a:t>
            </a:r>
            <a:endParaRPr lang="en-US" sz="1300" dirty="0"/>
          </a:p>
        </p:txBody>
      </p:sp>
      <p:sp>
        <p:nvSpPr>
          <p:cNvPr id="7" name="Shape 4"/>
          <p:cNvSpPr/>
          <p:nvPr/>
        </p:nvSpPr>
        <p:spPr>
          <a:xfrm>
            <a:off x="594360" y="2048256"/>
            <a:ext cx="365760" cy="365760"/>
          </a:xfrm>
          <a:prstGeom prst="ellipse">
            <a:avLst/>
          </a:prstGeom>
          <a:solidFill>
            <a:srgbClr val="141B47"/>
          </a:solidFill>
          <a:ln/>
        </p:spPr>
      </p:sp>
      <p:pic>
        <p:nvPicPr>
          <p:cNvPr id="8" name="Image 1" descr="icons/mobile.png">    </p:cNvPr>
          <p:cNvPicPr>
            <a:picLocks noChangeAspect="1"/>
          </p:cNvPicPr>
          <p:nvPr/>
        </p:nvPicPr>
        <p:blipFill>
          <a:blip r:embed="rId2"/>
          <a:stretch>
            <a:fillRect/>
          </a:stretch>
        </p:blipFill>
        <p:spPr>
          <a:xfrm>
            <a:off x="685800" y="2139696"/>
            <a:ext cx="182880" cy="182880"/>
          </a:xfrm>
          <a:prstGeom prst="rect">
            <a:avLst/>
          </a:prstGeom>
        </p:spPr>
      </p:pic>
      <p:sp>
        <p:nvSpPr>
          <p:cNvPr id="9" name="Text 5"/>
          <p:cNvSpPr/>
          <p:nvPr/>
        </p:nvSpPr>
        <p:spPr>
          <a:xfrm>
            <a:off x="1097280" y="1993392"/>
            <a:ext cx="484632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Mobile Application</a:t>
            </a:r>
            <a:endParaRPr lang="en-US" sz="1300" dirty="0"/>
          </a:p>
        </p:txBody>
      </p:sp>
      <p:sp>
        <p:nvSpPr>
          <p:cNvPr id="10" name="Shape 6"/>
          <p:cNvSpPr/>
          <p:nvPr/>
        </p:nvSpPr>
        <p:spPr>
          <a:xfrm>
            <a:off x="594360" y="2615184"/>
            <a:ext cx="365760" cy="365760"/>
          </a:xfrm>
          <a:prstGeom prst="ellipse">
            <a:avLst/>
          </a:prstGeom>
          <a:solidFill>
            <a:srgbClr val="141B47"/>
          </a:solidFill>
          <a:ln/>
        </p:spPr>
      </p:sp>
      <p:pic>
        <p:nvPicPr>
          <p:cNvPr id="11" name="Image 2" descr="icons/speech.png">    </p:cNvPr>
          <p:cNvPicPr>
            <a:picLocks noChangeAspect="1"/>
          </p:cNvPicPr>
          <p:nvPr/>
        </p:nvPicPr>
        <p:blipFill>
          <a:blip r:embed="rId3"/>
          <a:stretch>
            <a:fillRect/>
          </a:stretch>
        </p:blipFill>
        <p:spPr>
          <a:xfrm>
            <a:off x="685800" y="2706624"/>
            <a:ext cx="182880" cy="182880"/>
          </a:xfrm>
          <a:prstGeom prst="rect">
            <a:avLst/>
          </a:prstGeom>
        </p:spPr>
      </p:pic>
      <p:sp>
        <p:nvSpPr>
          <p:cNvPr id="12" name="Text 7"/>
          <p:cNvSpPr/>
          <p:nvPr/>
        </p:nvSpPr>
        <p:spPr>
          <a:xfrm>
            <a:off x="1097280" y="2560320"/>
            <a:ext cx="484632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AI Voice Assistant</a:t>
            </a:r>
            <a:endParaRPr lang="en-US" sz="1300" dirty="0"/>
          </a:p>
        </p:txBody>
      </p:sp>
      <p:sp>
        <p:nvSpPr>
          <p:cNvPr id="13" name="Shape 8"/>
          <p:cNvSpPr/>
          <p:nvPr/>
        </p:nvSpPr>
        <p:spPr>
          <a:xfrm>
            <a:off x="594360" y="3182112"/>
            <a:ext cx="365760" cy="365760"/>
          </a:xfrm>
          <a:prstGeom prst="ellipse">
            <a:avLst/>
          </a:prstGeom>
          <a:solidFill>
            <a:srgbClr val="141B47"/>
          </a:solidFill>
          <a:ln/>
        </p:spPr>
      </p:sp>
      <p:pic>
        <p:nvPicPr>
          <p:cNvPr id="14" name="Image 3" descr="icons/forecast.png">    </p:cNvPr>
          <p:cNvPicPr>
            <a:picLocks noChangeAspect="1"/>
          </p:cNvPicPr>
          <p:nvPr/>
        </p:nvPicPr>
        <p:blipFill>
          <a:blip r:embed="rId4"/>
          <a:stretch>
            <a:fillRect/>
          </a:stretch>
        </p:blipFill>
        <p:spPr>
          <a:xfrm>
            <a:off x="685800" y="3273552"/>
            <a:ext cx="182880" cy="182880"/>
          </a:xfrm>
          <a:prstGeom prst="rect">
            <a:avLst/>
          </a:prstGeom>
        </p:spPr>
      </p:pic>
      <p:sp>
        <p:nvSpPr>
          <p:cNvPr id="15" name="Text 9"/>
          <p:cNvSpPr/>
          <p:nvPr/>
        </p:nvSpPr>
        <p:spPr>
          <a:xfrm>
            <a:off x="1097280" y="3127248"/>
            <a:ext cx="484632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Predictive Tax Planning</a:t>
            </a:r>
            <a:endParaRPr lang="en-US" sz="1300" dirty="0"/>
          </a:p>
        </p:txBody>
      </p:sp>
      <p:sp>
        <p:nvSpPr>
          <p:cNvPr id="16" name="Shape 10"/>
          <p:cNvSpPr/>
          <p:nvPr/>
        </p:nvSpPr>
        <p:spPr>
          <a:xfrm>
            <a:off x="594360" y="3749040"/>
            <a:ext cx="365760" cy="365760"/>
          </a:xfrm>
          <a:prstGeom prst="ellipse">
            <a:avLst/>
          </a:prstGeom>
          <a:solidFill>
            <a:srgbClr val="141B47"/>
          </a:solidFill>
          <a:ln/>
        </p:spPr>
      </p:sp>
      <p:pic>
        <p:nvPicPr>
          <p:cNvPr id="17" name="Image 4" descr="icons/blockchain.png">    </p:cNvPr>
          <p:cNvPicPr>
            <a:picLocks noChangeAspect="1"/>
          </p:cNvPicPr>
          <p:nvPr/>
        </p:nvPicPr>
        <p:blipFill>
          <a:blip r:embed="rId5"/>
          <a:stretch>
            <a:fillRect/>
          </a:stretch>
        </p:blipFill>
        <p:spPr>
          <a:xfrm>
            <a:off x="685800" y="3840480"/>
            <a:ext cx="182880" cy="182880"/>
          </a:xfrm>
          <a:prstGeom prst="rect">
            <a:avLst/>
          </a:prstGeom>
        </p:spPr>
      </p:pic>
      <p:sp>
        <p:nvSpPr>
          <p:cNvPr id="18" name="Text 11"/>
          <p:cNvSpPr/>
          <p:nvPr/>
        </p:nvSpPr>
        <p:spPr>
          <a:xfrm>
            <a:off x="1097280" y="3694176"/>
            <a:ext cx="484632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Blockchain-based Invoice Verification</a:t>
            </a:r>
            <a:endParaRPr lang="en-US" sz="1300" dirty="0"/>
          </a:p>
        </p:txBody>
      </p:sp>
      <p:sp>
        <p:nvSpPr>
          <p:cNvPr id="19" name="Shape 12"/>
          <p:cNvSpPr/>
          <p:nvPr/>
        </p:nvSpPr>
        <p:spPr>
          <a:xfrm>
            <a:off x="594360" y="4315968"/>
            <a:ext cx="365760" cy="365760"/>
          </a:xfrm>
          <a:prstGeom prst="ellipse">
            <a:avLst/>
          </a:prstGeom>
          <a:solidFill>
            <a:srgbClr val="141B47"/>
          </a:solidFill>
          <a:ln/>
        </p:spPr>
      </p:sp>
      <p:pic>
        <p:nvPicPr>
          <p:cNvPr id="20" name="Image 5" descr="icons/erp.png">    </p:cNvPr>
          <p:cNvPicPr>
            <a:picLocks noChangeAspect="1"/>
          </p:cNvPicPr>
          <p:nvPr/>
        </p:nvPicPr>
        <p:blipFill>
          <a:blip r:embed="rId6"/>
          <a:stretch>
            <a:fillRect/>
          </a:stretch>
        </p:blipFill>
        <p:spPr>
          <a:xfrm>
            <a:off x="685800" y="4407408"/>
            <a:ext cx="182880" cy="182880"/>
          </a:xfrm>
          <a:prstGeom prst="rect">
            <a:avLst/>
          </a:prstGeom>
        </p:spPr>
      </p:pic>
      <p:sp>
        <p:nvSpPr>
          <p:cNvPr id="21" name="Text 13"/>
          <p:cNvSpPr/>
          <p:nvPr/>
        </p:nvSpPr>
        <p:spPr>
          <a:xfrm>
            <a:off x="1097280" y="4261104"/>
            <a:ext cx="484632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Integration with ERP (SAP, Tally, Zoho)</a:t>
            </a:r>
            <a:endParaRPr lang="en-US" sz="1300" dirty="0"/>
          </a:p>
        </p:txBody>
      </p:sp>
      <p:sp>
        <p:nvSpPr>
          <p:cNvPr id="22" name="Shape 14"/>
          <p:cNvSpPr/>
          <p:nvPr/>
        </p:nvSpPr>
        <p:spPr>
          <a:xfrm>
            <a:off x="594360" y="4882896"/>
            <a:ext cx="365760" cy="365760"/>
          </a:xfrm>
          <a:prstGeom prst="ellipse">
            <a:avLst/>
          </a:prstGeom>
          <a:solidFill>
            <a:srgbClr val="141B47"/>
          </a:solidFill>
          <a:ln/>
        </p:spPr>
      </p:sp>
      <p:pic>
        <p:nvPicPr>
          <p:cNvPr id="23" name="Image 6" descr="icons/copilot.png">    </p:cNvPr>
          <p:cNvPicPr>
            <a:picLocks noChangeAspect="1"/>
          </p:cNvPicPr>
          <p:nvPr/>
        </p:nvPicPr>
        <p:blipFill>
          <a:blip r:embed="rId7"/>
          <a:stretch>
            <a:fillRect/>
          </a:stretch>
        </p:blipFill>
        <p:spPr>
          <a:xfrm>
            <a:off x="685800" y="4974336"/>
            <a:ext cx="182880" cy="182880"/>
          </a:xfrm>
          <a:prstGeom prst="rect">
            <a:avLst/>
          </a:prstGeom>
        </p:spPr>
      </p:pic>
      <p:sp>
        <p:nvSpPr>
          <p:cNvPr id="24" name="Text 15"/>
          <p:cNvSpPr/>
          <p:nvPr/>
        </p:nvSpPr>
        <p:spPr>
          <a:xfrm>
            <a:off x="1097280" y="4828032"/>
            <a:ext cx="4846320" cy="4572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Generative AI Business Advisor</a:t>
            </a:r>
            <a:endParaRPr lang="en-US" sz="1300" dirty="0"/>
          </a:p>
        </p:txBody>
      </p:sp>
      <p:sp>
        <p:nvSpPr>
          <p:cNvPr id="25" name="Shape 16"/>
          <p:cNvSpPr/>
          <p:nvPr/>
        </p:nvSpPr>
        <p:spPr>
          <a:xfrm>
            <a:off x="6263640" y="1005840"/>
            <a:ext cx="5394960" cy="4160520"/>
          </a:xfrm>
          <a:prstGeom prst="rect">
            <a:avLst>
              <a:gd name="adj" fmla="val 1758"/>
            </a:avLst>
          </a:prstGeom>
          <a:solidFill>
            <a:srgbClr val="141B47"/>
          </a:solidFill>
          <a:ln/>
        </p:spPr>
      </p:sp>
      <p:sp>
        <p:nvSpPr>
          <p:cNvPr id="26" name="Text 17"/>
          <p:cNvSpPr/>
          <p:nvPr/>
        </p:nvSpPr>
        <p:spPr>
          <a:xfrm>
            <a:off x="6537960" y="1188720"/>
            <a:ext cx="4846320" cy="365760"/>
          </a:xfrm>
          <a:prstGeom prst="rect">
            <a:avLst/>
          </a:prstGeom>
          <a:noFill/>
          <a:ln/>
        </p:spPr>
        <p:txBody>
          <a:bodyPr wrap="square" rtlCol="0" anchor="ctr"/>
          <a:lstStyle/>
          <a:p>
            <a:pPr indent="0" marL="0">
              <a:buNone/>
            </a:pPr>
            <a:r>
              <a:rPr lang="en-US" sz="1700" b="1" dirty="0">
                <a:solidFill>
                  <a:srgbClr val="02C39A"/>
                </a:solidFill>
                <a:latin typeface="Calibri" pitchFamily="34" charset="0"/>
                <a:ea typeface="Calibri" pitchFamily="34" charset="-122"/>
                <a:cs typeface="Calibri" pitchFamily="34" charset="-120"/>
              </a:rPr>
              <a:t>Conclusion</a:t>
            </a:r>
            <a:endParaRPr lang="en-US" sz="1700" dirty="0"/>
          </a:p>
        </p:txBody>
      </p:sp>
      <p:sp>
        <p:nvSpPr>
          <p:cNvPr id="27" name="Text 18"/>
          <p:cNvSpPr/>
          <p:nvPr/>
        </p:nvSpPr>
        <p:spPr>
          <a:xfrm>
            <a:off x="6537960" y="1691640"/>
            <a:ext cx="4846320" cy="3291840"/>
          </a:xfrm>
          <a:prstGeom prst="rect">
            <a:avLst/>
          </a:prstGeom>
          <a:noFill/>
          <a:ln/>
        </p:spPr>
        <p:txBody>
          <a:bodyPr wrap="square" rtlCol="0" anchor="t"/>
          <a:lstStyle/>
          <a:p>
            <a:pPr indent="0" marL="0">
              <a:lnSpc>
                <a:spcPct val="115000"/>
              </a:lnSpc>
              <a:buNone/>
            </a:pPr>
            <a:r>
              <a:rPr lang="en-US" sz="1350" dirty="0">
                <a:solidFill>
                  <a:srgbClr val="FFFFFF"/>
                </a:solidFill>
                <a:latin typeface="Calibri" pitchFamily="34" charset="0"/>
                <a:ea typeface="Calibri" pitchFamily="34" charset="-122"/>
                <a:cs typeface="Calibri" pitchFamily="34" charset="-120"/>
              </a:rPr>
              <a:t>VendorAI transforms traditional GST management into an AI-driven intelligent ecosystem by integrating OCR, Machine Learning, Forecasting, Recommendation Systems, and Large Language Models. The platform not only automates GST compliance but also provides actionable business intelligence, enabling organizations to save time, reduce costs, maximize tax benefits, and make data-driven decisions.</a:t>
            </a:r>
            <a:endParaRPr lang="en-US" sz="1350" dirty="0"/>
          </a:p>
        </p:txBody>
      </p:sp>
      <p:sp>
        <p:nvSpPr>
          <p:cNvPr id="28" name="Shape 19"/>
          <p:cNvSpPr/>
          <p:nvPr/>
        </p:nvSpPr>
        <p:spPr>
          <a:xfrm>
            <a:off x="548640" y="5440680"/>
            <a:ext cx="11109960" cy="914400"/>
          </a:xfrm>
          <a:prstGeom prst="rect">
            <a:avLst>
              <a:gd name="adj" fmla="val 8000"/>
            </a:avLst>
          </a:prstGeom>
          <a:solidFill>
            <a:srgbClr val="02C39A"/>
          </a:solidFill>
          <a:ln/>
        </p:spPr>
      </p:sp>
      <p:sp>
        <p:nvSpPr>
          <p:cNvPr id="29" name="Text 20"/>
          <p:cNvSpPr/>
          <p:nvPr/>
        </p:nvSpPr>
        <p:spPr>
          <a:xfrm>
            <a:off x="822960" y="5468112"/>
            <a:ext cx="4572000" cy="457200"/>
          </a:xfrm>
          <a:prstGeom prst="rect">
            <a:avLst/>
          </a:prstGeom>
          <a:noFill/>
          <a:ln/>
        </p:spPr>
        <p:txBody>
          <a:bodyPr wrap="square" rtlCol="0" anchor="ctr"/>
          <a:lstStyle/>
          <a:p>
            <a:pPr indent="0" marL="0">
              <a:buNone/>
            </a:pPr>
            <a:r>
              <a:rPr lang="en-US" sz="2200" b="1" dirty="0">
                <a:solidFill>
                  <a:srgbClr val="141B47"/>
                </a:solidFill>
                <a:latin typeface="Cambria" pitchFamily="34" charset="0"/>
                <a:ea typeface="Cambria" pitchFamily="34" charset="-122"/>
                <a:cs typeface="Cambria" pitchFamily="34" charset="-120"/>
              </a:rPr>
              <a:t>Thank You</a:t>
            </a:r>
            <a:endParaRPr lang="en-US" sz="2200" dirty="0"/>
          </a:p>
        </p:txBody>
      </p:sp>
      <p:sp>
        <p:nvSpPr>
          <p:cNvPr id="30" name="Text 21"/>
          <p:cNvSpPr/>
          <p:nvPr/>
        </p:nvSpPr>
        <p:spPr>
          <a:xfrm>
            <a:off x="822960" y="5897880"/>
            <a:ext cx="5486400" cy="365760"/>
          </a:xfrm>
          <a:prstGeom prst="rect">
            <a:avLst/>
          </a:prstGeom>
          <a:noFill/>
          <a:ln/>
        </p:spPr>
        <p:txBody>
          <a:bodyPr wrap="square" rtlCol="0" anchor="ctr"/>
          <a:lstStyle/>
          <a:p>
            <a:pPr indent="0" marL="0">
              <a:buNone/>
            </a:pPr>
            <a:r>
              <a:rPr lang="en-US" sz="1300" i="1" dirty="0">
                <a:solidFill>
                  <a:srgbClr val="141B47"/>
                </a:solidFill>
                <a:latin typeface="Calibri" pitchFamily="34" charset="0"/>
                <a:ea typeface="Calibri" pitchFamily="34" charset="-122"/>
                <a:cs typeface="Calibri" pitchFamily="34" charset="-120"/>
              </a:rPr>
              <a:t>Questions &amp; Discussion</a:t>
            </a:r>
            <a:endParaRPr lang="en-US" sz="1300" dirty="0"/>
          </a:p>
        </p:txBody>
      </p:sp>
      <p:sp>
        <p:nvSpPr>
          <p:cNvPr id="31" name="Text 22"/>
          <p:cNvSpPr/>
          <p:nvPr/>
        </p:nvSpPr>
        <p:spPr>
          <a:xfrm>
            <a:off x="457200" y="6492240"/>
            <a:ext cx="5486400" cy="27432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VendorAI  |  Future Scope &amp; Conclusion</a:t>
            </a:r>
            <a:endParaRPr lang="en-US" sz="1000" dirty="0"/>
          </a:p>
        </p:txBody>
      </p:sp>
      <p:sp>
        <p:nvSpPr>
          <p:cNvPr id="32" name="Text 23"/>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2026-07-31T18:28:37Z</dcterms:created>
  <dcterms:modified xsi:type="dcterms:W3CDTF">2026-07-31T18:28:37Z</dcterms:modified>
</cp:coreProperties>
</file>